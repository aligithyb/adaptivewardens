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12192000"/>
  <p:embeddedFontLst>
    <p:embeddedFont>
      <p:font typeface="Montserrat"/>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jmaZ7CwqRz6xs/qmOpWJCrw+9k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Montserrat-bold.fntdata"/><Relationship Id="rId12"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boldItalic.fntdata"/><Relationship Id="rId14" Type="http://schemas.openxmlformats.org/officeDocument/2006/relationships/font" Target="fonts/Montserrat-italic.fntdata"/><Relationship Id="rId16"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 name="Google Shape;3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 name="Google Shape;3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 name="Google Shape;4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9" name="Google Shape;5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0" name="Google Shape;7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7" name="Google Shape;12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4" name="Google Shape;17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6.png"/><Relationship Id="rId4" Type="http://schemas.openxmlformats.org/officeDocument/2006/relationships/image" Target="../media/image1.png"/><Relationship Id="rId11" Type="http://schemas.openxmlformats.org/officeDocument/2006/relationships/image" Target="../media/image6.png"/><Relationship Id="rId10" Type="http://schemas.openxmlformats.org/officeDocument/2006/relationships/image" Target="../media/image21.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11.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5.png"/><Relationship Id="rId4" Type="http://schemas.openxmlformats.org/officeDocument/2006/relationships/image" Target="../media/image25.png"/><Relationship Id="rId5" Type="http://schemas.openxmlformats.org/officeDocument/2006/relationships/image" Target="../media/image6.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7.png"/><Relationship Id="rId4" Type="http://schemas.openxmlformats.org/officeDocument/2006/relationships/image" Target="../media/image43.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5.png"/><Relationship Id="rId4" Type="http://schemas.openxmlformats.org/officeDocument/2006/relationships/image" Target="../media/image25.png"/><Relationship Id="rId5" Type="http://schemas.openxmlformats.org/officeDocument/2006/relationships/image" Target="../media/image6.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1" Type="http://schemas.openxmlformats.org/officeDocument/2006/relationships/image" Target="../media/image32.png"/><Relationship Id="rId10" Type="http://schemas.openxmlformats.org/officeDocument/2006/relationships/image" Target="../media/image15.png"/><Relationship Id="rId13" Type="http://schemas.openxmlformats.org/officeDocument/2006/relationships/image" Target="../media/image17.png"/><Relationship Id="rId12"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16.png"/><Relationship Id="rId9" Type="http://schemas.openxmlformats.org/officeDocument/2006/relationships/image" Target="../media/image14.png"/><Relationship Id="rId1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29.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20" Type="http://schemas.openxmlformats.org/officeDocument/2006/relationships/image" Target="../media/image6.png"/><Relationship Id="rId11" Type="http://schemas.openxmlformats.org/officeDocument/2006/relationships/image" Target="../media/image27.png"/><Relationship Id="rId10" Type="http://schemas.openxmlformats.org/officeDocument/2006/relationships/image" Target="../media/image26.png"/><Relationship Id="rId21" Type="http://schemas.openxmlformats.org/officeDocument/2006/relationships/image" Target="../media/image7.png"/><Relationship Id="rId13" Type="http://schemas.openxmlformats.org/officeDocument/2006/relationships/image" Target="../media/image31.png"/><Relationship Id="rId12" Type="http://schemas.openxmlformats.org/officeDocument/2006/relationships/image" Target="../media/image28.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5.png"/><Relationship Id="rId4" Type="http://schemas.openxmlformats.org/officeDocument/2006/relationships/image" Target="../media/image25.png"/><Relationship Id="rId9" Type="http://schemas.openxmlformats.org/officeDocument/2006/relationships/image" Target="../media/image22.png"/><Relationship Id="rId15" Type="http://schemas.openxmlformats.org/officeDocument/2006/relationships/image" Target="../media/image34.png"/><Relationship Id="rId14" Type="http://schemas.openxmlformats.org/officeDocument/2006/relationships/image" Target="../media/image35.png"/><Relationship Id="rId17" Type="http://schemas.openxmlformats.org/officeDocument/2006/relationships/image" Target="../media/image33.png"/><Relationship Id="rId16" Type="http://schemas.openxmlformats.org/officeDocument/2006/relationships/image" Target="../media/image30.png"/><Relationship Id="rId5" Type="http://schemas.openxmlformats.org/officeDocument/2006/relationships/image" Target="../media/image23.png"/><Relationship Id="rId19" Type="http://schemas.openxmlformats.org/officeDocument/2006/relationships/image" Target="../media/image36.png"/><Relationship Id="rId6" Type="http://schemas.openxmlformats.org/officeDocument/2006/relationships/image" Target="../media/image19.png"/><Relationship Id="rId18" Type="http://schemas.openxmlformats.org/officeDocument/2006/relationships/image" Target="../media/image37.png"/><Relationship Id="rId7" Type="http://schemas.openxmlformats.org/officeDocument/2006/relationships/image" Target="../media/image18.png"/><Relationship Id="rId8" Type="http://schemas.openxmlformats.org/officeDocument/2006/relationships/image" Target="../media/image20.png"/></Relationships>
</file>

<file path=ppt/slides/_rels/slide7.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40.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5.png"/><Relationship Id="rId4" Type="http://schemas.openxmlformats.org/officeDocument/2006/relationships/image" Target="../media/image25.png"/><Relationship Id="rId9" Type="http://schemas.openxmlformats.org/officeDocument/2006/relationships/image" Target="../media/image41.png"/><Relationship Id="rId5" Type="http://schemas.openxmlformats.org/officeDocument/2006/relationships/image" Target="../media/image7.png"/><Relationship Id="rId6" Type="http://schemas.openxmlformats.org/officeDocument/2006/relationships/image" Target="../media/image39.png"/><Relationship Id="rId7" Type="http://schemas.openxmlformats.org/officeDocument/2006/relationships/image" Target="../media/image38.png"/><Relationship Id="rId8"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pic>
        <p:nvPicPr>
          <p:cNvPr descr="preencoded.png" id="12" name="Google Shape;12;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3" name="Google Shape;13;p1"/>
          <p:cNvPicPr preferRelativeResize="0"/>
          <p:nvPr/>
        </p:nvPicPr>
        <p:blipFill rotWithShape="1">
          <a:blip r:embed="rId4">
            <a:alphaModFix/>
          </a:blip>
          <a:srcRect b="0" l="0" r="0" t="0"/>
          <a:stretch/>
        </p:blipFill>
        <p:spPr>
          <a:xfrm>
            <a:off x="0" y="0"/>
            <a:ext cx="2895600" cy="2895600"/>
          </a:xfrm>
          <a:prstGeom prst="rect">
            <a:avLst/>
          </a:prstGeom>
          <a:noFill/>
          <a:ln>
            <a:noFill/>
          </a:ln>
        </p:spPr>
      </p:pic>
      <p:pic>
        <p:nvPicPr>
          <p:cNvPr descr="preencoded.png" id="14" name="Google Shape;14;p1"/>
          <p:cNvPicPr preferRelativeResize="0"/>
          <p:nvPr/>
        </p:nvPicPr>
        <p:blipFill rotWithShape="1">
          <a:blip r:embed="rId5">
            <a:alphaModFix/>
          </a:blip>
          <a:srcRect b="0" l="0" r="0" t="0"/>
          <a:stretch/>
        </p:blipFill>
        <p:spPr>
          <a:xfrm>
            <a:off x="9372600" y="4038600"/>
            <a:ext cx="2438400" cy="2438400"/>
          </a:xfrm>
          <a:prstGeom prst="rect">
            <a:avLst/>
          </a:prstGeom>
          <a:noFill/>
          <a:ln>
            <a:noFill/>
          </a:ln>
        </p:spPr>
      </p:pic>
      <p:pic>
        <p:nvPicPr>
          <p:cNvPr descr="preencoded.png" id="15" name="Google Shape;15;p1"/>
          <p:cNvPicPr preferRelativeResize="0"/>
          <p:nvPr/>
        </p:nvPicPr>
        <p:blipFill rotWithShape="1">
          <a:blip r:embed="rId6">
            <a:alphaModFix/>
          </a:blip>
          <a:srcRect b="0" l="0" r="0" t="0"/>
          <a:stretch/>
        </p:blipFill>
        <p:spPr>
          <a:xfrm>
            <a:off x="0" y="2286000"/>
            <a:ext cx="2286000" cy="3048000"/>
          </a:xfrm>
          <a:prstGeom prst="rect">
            <a:avLst/>
          </a:prstGeom>
          <a:noFill/>
          <a:ln>
            <a:noFill/>
          </a:ln>
        </p:spPr>
      </p:pic>
      <p:pic>
        <p:nvPicPr>
          <p:cNvPr descr="preencoded.png" id="16" name="Google Shape;16;p1"/>
          <p:cNvPicPr preferRelativeResize="0"/>
          <p:nvPr/>
        </p:nvPicPr>
        <p:blipFill rotWithShape="1">
          <a:blip r:embed="rId7">
            <a:alphaModFix/>
          </a:blip>
          <a:srcRect b="0" l="0" r="0" t="0"/>
          <a:stretch/>
        </p:blipFill>
        <p:spPr>
          <a:xfrm>
            <a:off x="0" y="0"/>
            <a:ext cx="12192000" cy="114300"/>
          </a:xfrm>
          <a:prstGeom prst="rect">
            <a:avLst/>
          </a:prstGeom>
          <a:noFill/>
          <a:ln>
            <a:noFill/>
          </a:ln>
        </p:spPr>
      </p:pic>
      <p:pic>
        <p:nvPicPr>
          <p:cNvPr descr="preencoded.png" id="17" name="Google Shape;17;p1"/>
          <p:cNvPicPr preferRelativeResize="0"/>
          <p:nvPr/>
        </p:nvPicPr>
        <p:blipFill rotWithShape="1">
          <a:blip r:embed="rId8">
            <a:alphaModFix/>
          </a:blip>
          <a:srcRect b="0" l="0" r="0" t="0"/>
          <a:stretch/>
        </p:blipFill>
        <p:spPr>
          <a:xfrm>
            <a:off x="5638800" y="1957388"/>
            <a:ext cx="914400" cy="38100"/>
          </a:xfrm>
          <a:prstGeom prst="rect">
            <a:avLst/>
          </a:prstGeom>
          <a:noFill/>
          <a:ln>
            <a:noFill/>
          </a:ln>
        </p:spPr>
      </p:pic>
      <p:pic>
        <p:nvPicPr>
          <p:cNvPr descr="preencoded.png" id="18" name="Google Shape;18;p1"/>
          <p:cNvPicPr preferRelativeResize="0"/>
          <p:nvPr/>
        </p:nvPicPr>
        <p:blipFill rotWithShape="1">
          <a:blip r:embed="rId9">
            <a:alphaModFix/>
          </a:blip>
          <a:srcRect b="0" l="0" r="0" t="0"/>
          <a:stretch/>
        </p:blipFill>
        <p:spPr>
          <a:xfrm>
            <a:off x="0" y="6743700"/>
            <a:ext cx="12192000" cy="114300"/>
          </a:xfrm>
          <a:prstGeom prst="rect">
            <a:avLst/>
          </a:prstGeom>
          <a:noFill/>
          <a:ln>
            <a:noFill/>
          </a:ln>
        </p:spPr>
      </p:pic>
      <p:sp>
        <p:nvSpPr>
          <p:cNvPr id="19" name="Google Shape;19;p1"/>
          <p:cNvSpPr/>
          <p:nvPr/>
        </p:nvSpPr>
        <p:spPr>
          <a:xfrm>
            <a:off x="1986915" y="1090613"/>
            <a:ext cx="8218170" cy="714375"/>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000000"/>
              </a:buClr>
              <a:buSzPts val="4500"/>
              <a:buFont typeface="Montserrat"/>
              <a:buNone/>
            </a:pPr>
            <a:r>
              <a:rPr b="1" lang="en-US" sz="4500">
                <a:latin typeface="Montserrat"/>
                <a:ea typeface="Montserrat"/>
                <a:cs typeface="Montserrat"/>
                <a:sym typeface="Montserrat"/>
              </a:rPr>
              <a:t>	Honeyops</a:t>
            </a:r>
            <a:endParaRPr b="0" i="0" sz="4500" u="none" cap="none" strike="noStrike">
              <a:solidFill>
                <a:schemeClr val="dk1"/>
              </a:solidFill>
              <a:latin typeface="Calibri"/>
              <a:ea typeface="Calibri"/>
              <a:cs typeface="Calibri"/>
              <a:sym typeface="Calibri"/>
            </a:endParaRPr>
          </a:p>
        </p:txBody>
      </p:sp>
      <p:sp>
        <p:nvSpPr>
          <p:cNvPr id="20" name="Google Shape;20;p1"/>
          <p:cNvSpPr/>
          <p:nvPr/>
        </p:nvSpPr>
        <p:spPr>
          <a:xfrm>
            <a:off x="2438400" y="2224088"/>
            <a:ext cx="7315200" cy="5334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374151"/>
              </a:buClr>
              <a:buSzPts val="1500"/>
              <a:buFont typeface="Montserrat"/>
              <a:buNone/>
            </a:pPr>
            <a:r>
              <a:t/>
            </a:r>
            <a:endParaRPr b="0" i="0" sz="1500" u="none" cap="none" strike="noStrike">
              <a:solidFill>
                <a:schemeClr val="dk1"/>
              </a:solidFill>
              <a:latin typeface="Calibri"/>
              <a:ea typeface="Calibri"/>
              <a:cs typeface="Calibri"/>
              <a:sym typeface="Calibri"/>
            </a:endParaRPr>
          </a:p>
        </p:txBody>
      </p:sp>
      <p:sp>
        <p:nvSpPr>
          <p:cNvPr id="21" name="Google Shape;21;p1"/>
          <p:cNvSpPr/>
          <p:nvPr/>
        </p:nvSpPr>
        <p:spPr>
          <a:xfrm>
            <a:off x="2087880" y="2986088"/>
            <a:ext cx="4206240" cy="304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374151"/>
              </a:buClr>
              <a:buSzPts val="1800"/>
              <a:buFont typeface="Montserrat"/>
              <a:buNone/>
            </a:pPr>
            <a:r>
              <a:rPr b="1" i="0" lang="en-US" sz="1800" u="none" cap="none" strike="noStrike">
                <a:solidFill>
                  <a:srgbClr val="374151"/>
                </a:solidFill>
                <a:latin typeface="Montserrat"/>
                <a:ea typeface="Montserrat"/>
                <a:cs typeface="Montserrat"/>
                <a:sym typeface="Montserrat"/>
              </a:rPr>
              <a:t>Team Members:</a:t>
            </a:r>
            <a:endParaRPr b="0" i="0" sz="1800" u="none" cap="none" strike="noStrike">
              <a:solidFill>
                <a:schemeClr val="dk1"/>
              </a:solidFill>
              <a:latin typeface="Calibri"/>
              <a:ea typeface="Calibri"/>
              <a:cs typeface="Calibri"/>
              <a:sym typeface="Calibri"/>
            </a:endParaRPr>
          </a:p>
        </p:txBody>
      </p:sp>
      <p:sp>
        <p:nvSpPr>
          <p:cNvPr id="22" name="Google Shape;22;p1"/>
          <p:cNvSpPr/>
          <p:nvPr/>
        </p:nvSpPr>
        <p:spPr>
          <a:xfrm>
            <a:off x="1878330" y="3405188"/>
            <a:ext cx="4434840" cy="266700"/>
          </a:xfrm>
          <a:prstGeom prst="rect">
            <a:avLst/>
          </a:prstGeom>
          <a:noFill/>
          <a:ln>
            <a:noFill/>
          </a:ln>
        </p:spPr>
        <p:txBody>
          <a:bodyPr anchorCtr="0" anchor="t" bIns="0" lIns="0" spcFirstLastPara="1" rIns="0" wrap="square" tIns="0">
            <a:noAutofit/>
          </a:bodyPr>
          <a:lstStyle/>
          <a:p>
            <a:pPr indent="-342900" lvl="0" marL="342900" marR="0" rtl="0" algn="ctr">
              <a:lnSpc>
                <a:spcPct val="140000"/>
              </a:lnSpc>
              <a:spcBef>
                <a:spcPts val="0"/>
              </a:spcBef>
              <a:spcAft>
                <a:spcPts val="0"/>
              </a:spcAft>
              <a:buClr>
                <a:srgbClr val="4B5563"/>
              </a:buClr>
              <a:buSzPts val="1500"/>
              <a:buFont typeface="Montserrat"/>
              <a:buChar char="•"/>
            </a:pPr>
            <a:r>
              <a:rPr lang="en-US" sz="1500">
                <a:solidFill>
                  <a:srgbClr val="4B5563"/>
                </a:solidFill>
                <a:latin typeface="Montserrat"/>
                <a:ea typeface="Montserrat"/>
                <a:cs typeface="Montserrat"/>
                <a:sym typeface="Montserrat"/>
              </a:rPr>
              <a:t>Ali Ahmed </a:t>
            </a:r>
            <a:endParaRPr b="0" i="0" sz="1500" u="none" cap="none" strike="noStrike">
              <a:solidFill>
                <a:schemeClr val="dk1"/>
              </a:solidFill>
              <a:latin typeface="Calibri"/>
              <a:ea typeface="Calibri"/>
              <a:cs typeface="Calibri"/>
              <a:sym typeface="Calibri"/>
            </a:endParaRPr>
          </a:p>
        </p:txBody>
      </p:sp>
      <p:sp>
        <p:nvSpPr>
          <p:cNvPr id="23" name="Google Shape;23;p1"/>
          <p:cNvSpPr/>
          <p:nvPr/>
        </p:nvSpPr>
        <p:spPr>
          <a:xfrm>
            <a:off x="1878330" y="3748087"/>
            <a:ext cx="4434840" cy="266700"/>
          </a:xfrm>
          <a:prstGeom prst="rect">
            <a:avLst/>
          </a:prstGeom>
          <a:noFill/>
          <a:ln>
            <a:noFill/>
          </a:ln>
        </p:spPr>
        <p:txBody>
          <a:bodyPr anchorCtr="0" anchor="t" bIns="0" lIns="0" spcFirstLastPara="1" rIns="0" wrap="square" tIns="0">
            <a:noAutofit/>
          </a:bodyPr>
          <a:lstStyle/>
          <a:p>
            <a:pPr indent="-342900" lvl="0" marL="342900" marR="0" rtl="0" algn="ctr">
              <a:lnSpc>
                <a:spcPct val="140000"/>
              </a:lnSpc>
              <a:spcBef>
                <a:spcPts val="0"/>
              </a:spcBef>
              <a:spcAft>
                <a:spcPts val="0"/>
              </a:spcAft>
              <a:buClr>
                <a:srgbClr val="4B5563"/>
              </a:buClr>
              <a:buSzPts val="1500"/>
              <a:buFont typeface="Montserrat"/>
              <a:buChar char="•"/>
            </a:pPr>
            <a:r>
              <a:rPr lang="en-US" sz="1500">
                <a:solidFill>
                  <a:srgbClr val="4B5563"/>
                </a:solidFill>
                <a:latin typeface="Montserrat"/>
                <a:ea typeface="Montserrat"/>
                <a:cs typeface="Montserrat"/>
                <a:sym typeface="Montserrat"/>
              </a:rPr>
              <a:t>Ali Nazzer</a:t>
            </a:r>
            <a:endParaRPr b="0" i="0" sz="1500" u="none" cap="none" strike="noStrike">
              <a:solidFill>
                <a:schemeClr val="dk1"/>
              </a:solidFill>
              <a:latin typeface="Calibri"/>
              <a:ea typeface="Calibri"/>
              <a:cs typeface="Calibri"/>
              <a:sym typeface="Calibri"/>
            </a:endParaRPr>
          </a:p>
        </p:txBody>
      </p:sp>
      <p:sp>
        <p:nvSpPr>
          <p:cNvPr id="24" name="Google Shape;24;p1"/>
          <p:cNvSpPr/>
          <p:nvPr/>
        </p:nvSpPr>
        <p:spPr>
          <a:xfrm>
            <a:off x="1878330" y="4090987"/>
            <a:ext cx="4434840" cy="266700"/>
          </a:xfrm>
          <a:prstGeom prst="rect">
            <a:avLst/>
          </a:prstGeom>
          <a:noFill/>
          <a:ln>
            <a:noFill/>
          </a:ln>
        </p:spPr>
        <p:txBody>
          <a:bodyPr anchorCtr="0" anchor="t" bIns="0" lIns="0" spcFirstLastPara="1" rIns="0" wrap="square" tIns="0">
            <a:noAutofit/>
          </a:bodyPr>
          <a:lstStyle/>
          <a:p>
            <a:pPr indent="-342900" lvl="0" marL="342900" marR="0" rtl="0" algn="ctr">
              <a:lnSpc>
                <a:spcPct val="140000"/>
              </a:lnSpc>
              <a:spcBef>
                <a:spcPts val="0"/>
              </a:spcBef>
              <a:spcAft>
                <a:spcPts val="0"/>
              </a:spcAft>
              <a:buClr>
                <a:srgbClr val="4B5563"/>
              </a:buClr>
              <a:buSzPts val="1500"/>
              <a:buFont typeface="Montserrat"/>
              <a:buChar char="•"/>
            </a:pPr>
            <a:r>
              <a:rPr lang="en-US" sz="1500">
                <a:solidFill>
                  <a:srgbClr val="4B5563"/>
                </a:solidFill>
                <a:latin typeface="Montserrat"/>
                <a:ea typeface="Montserrat"/>
                <a:cs typeface="Montserrat"/>
                <a:sym typeface="Montserrat"/>
              </a:rPr>
              <a:t>Ahmed Yasser</a:t>
            </a:r>
            <a:endParaRPr b="0" i="0" sz="1500" u="none" cap="none" strike="noStrike">
              <a:solidFill>
                <a:schemeClr val="dk1"/>
              </a:solidFill>
              <a:latin typeface="Calibri"/>
              <a:ea typeface="Calibri"/>
              <a:cs typeface="Calibri"/>
              <a:sym typeface="Calibri"/>
            </a:endParaRPr>
          </a:p>
        </p:txBody>
      </p:sp>
      <p:sp>
        <p:nvSpPr>
          <p:cNvPr id="25" name="Google Shape;25;p1"/>
          <p:cNvSpPr/>
          <p:nvPr/>
        </p:nvSpPr>
        <p:spPr>
          <a:xfrm>
            <a:off x="1878330" y="4433888"/>
            <a:ext cx="4434840" cy="266700"/>
          </a:xfrm>
          <a:prstGeom prst="rect">
            <a:avLst/>
          </a:prstGeom>
          <a:noFill/>
          <a:ln>
            <a:noFill/>
          </a:ln>
        </p:spPr>
        <p:txBody>
          <a:bodyPr anchorCtr="0" anchor="t" bIns="0" lIns="0" spcFirstLastPara="1" rIns="0" wrap="square" tIns="0">
            <a:noAutofit/>
          </a:bodyPr>
          <a:lstStyle/>
          <a:p>
            <a:pPr indent="-342900" lvl="0" marL="342900" marR="0" rtl="0" algn="ctr">
              <a:lnSpc>
                <a:spcPct val="140000"/>
              </a:lnSpc>
              <a:spcBef>
                <a:spcPts val="0"/>
              </a:spcBef>
              <a:spcAft>
                <a:spcPts val="0"/>
              </a:spcAft>
              <a:buClr>
                <a:srgbClr val="4B5563"/>
              </a:buClr>
              <a:buSzPts val="1500"/>
              <a:buFont typeface="Montserrat"/>
              <a:buChar char="•"/>
            </a:pPr>
            <a:r>
              <a:rPr lang="en-US" sz="1500">
                <a:solidFill>
                  <a:srgbClr val="4B5563"/>
                </a:solidFill>
                <a:latin typeface="Montserrat"/>
                <a:ea typeface="Montserrat"/>
                <a:cs typeface="Montserrat"/>
                <a:sym typeface="Montserrat"/>
              </a:rPr>
              <a:t>AbdulKhaliq</a:t>
            </a:r>
            <a:r>
              <a:rPr lang="en-US" sz="1500">
                <a:solidFill>
                  <a:srgbClr val="4B5563"/>
                </a:solidFill>
                <a:latin typeface="Montserrat"/>
                <a:ea typeface="Montserrat"/>
                <a:cs typeface="Montserrat"/>
                <a:sym typeface="Montserrat"/>
              </a:rPr>
              <a:t> sarwat</a:t>
            </a:r>
            <a:endParaRPr b="0" i="0" sz="1500" u="none" cap="none" strike="noStrike">
              <a:solidFill>
                <a:schemeClr val="dk1"/>
              </a:solidFill>
              <a:latin typeface="Calibri"/>
              <a:ea typeface="Calibri"/>
              <a:cs typeface="Calibri"/>
              <a:sym typeface="Calibri"/>
            </a:endParaRPr>
          </a:p>
        </p:txBody>
      </p:sp>
      <p:sp>
        <p:nvSpPr>
          <p:cNvPr id="26" name="Google Shape;26;p1"/>
          <p:cNvSpPr/>
          <p:nvPr/>
        </p:nvSpPr>
        <p:spPr>
          <a:xfrm>
            <a:off x="6248400" y="2986088"/>
            <a:ext cx="3505200" cy="3048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Clr>
                <a:srgbClr val="374151"/>
              </a:buClr>
              <a:buSzPts val="1800"/>
              <a:buFont typeface="Montserrat"/>
              <a:buNone/>
            </a:pPr>
            <a:r>
              <a:rPr b="1" i="0" lang="en-US" sz="1800" u="none" cap="none" strike="noStrike">
                <a:solidFill>
                  <a:srgbClr val="374151"/>
                </a:solidFill>
                <a:latin typeface="Montserrat"/>
                <a:ea typeface="Montserrat"/>
                <a:cs typeface="Montserrat"/>
                <a:sym typeface="Montserrat"/>
              </a:rPr>
              <a:t>Supervisor:</a:t>
            </a:r>
            <a:endParaRPr b="0" i="0" sz="1800" u="none" cap="none" strike="noStrike">
              <a:solidFill>
                <a:schemeClr val="dk1"/>
              </a:solidFill>
              <a:latin typeface="Calibri"/>
              <a:ea typeface="Calibri"/>
              <a:cs typeface="Calibri"/>
              <a:sym typeface="Calibri"/>
            </a:endParaRPr>
          </a:p>
        </p:txBody>
      </p:sp>
      <p:sp>
        <p:nvSpPr>
          <p:cNvPr id="27" name="Google Shape;27;p1"/>
          <p:cNvSpPr/>
          <p:nvPr/>
        </p:nvSpPr>
        <p:spPr>
          <a:xfrm>
            <a:off x="5897880" y="3405188"/>
            <a:ext cx="4206240" cy="2667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B5563"/>
              </a:buClr>
              <a:buSzPts val="1500"/>
              <a:buFont typeface="Montserrat"/>
              <a:buNone/>
            </a:pPr>
            <a:r>
              <a:rPr lang="en-US" sz="1500">
                <a:solidFill>
                  <a:srgbClr val="4B5563"/>
                </a:solidFill>
                <a:latin typeface="Montserrat"/>
                <a:ea typeface="Montserrat"/>
                <a:cs typeface="Montserrat"/>
                <a:sym typeface="Montserrat"/>
              </a:rPr>
              <a:t>Dr. Ashraf </a:t>
            </a:r>
            <a:r>
              <a:rPr lang="en-US" sz="1500">
                <a:solidFill>
                  <a:srgbClr val="4B5563"/>
                </a:solidFill>
                <a:latin typeface="Montserrat"/>
                <a:ea typeface="Montserrat"/>
                <a:cs typeface="Montserrat"/>
                <a:sym typeface="Montserrat"/>
              </a:rPr>
              <a:t>Badawi</a:t>
            </a:r>
            <a:endParaRPr b="0" i="0" sz="1500" u="none" cap="none" strike="noStrike">
              <a:solidFill>
                <a:schemeClr val="dk1"/>
              </a:solidFill>
              <a:latin typeface="Calibri"/>
              <a:ea typeface="Calibri"/>
              <a:cs typeface="Calibri"/>
              <a:sym typeface="Calibri"/>
            </a:endParaRPr>
          </a:p>
        </p:txBody>
      </p:sp>
      <p:sp>
        <p:nvSpPr>
          <p:cNvPr id="28" name="Google Shape;28;p1"/>
          <p:cNvSpPr/>
          <p:nvPr/>
        </p:nvSpPr>
        <p:spPr>
          <a:xfrm>
            <a:off x="8886825" y="5257800"/>
            <a:ext cx="341757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4B5563"/>
              </a:buClr>
              <a:buSzPts val="1350"/>
              <a:buFont typeface="Montserrat"/>
              <a:buNone/>
            </a:pPr>
            <a:r>
              <a:rPr b="0" i="0" lang="en-US" sz="1350" u="none" cap="none" strike="noStrike">
                <a:solidFill>
                  <a:srgbClr val="4B5563"/>
                </a:solidFill>
                <a:latin typeface="Montserrat"/>
                <a:ea typeface="Montserrat"/>
                <a:cs typeface="Montserrat"/>
                <a:sym typeface="Montserrat"/>
              </a:rPr>
              <a:t>Submission Date: [</a:t>
            </a:r>
            <a:r>
              <a:rPr lang="en-US" sz="1350">
                <a:solidFill>
                  <a:srgbClr val="4B5563"/>
                </a:solidFill>
                <a:latin typeface="Montserrat"/>
                <a:ea typeface="Montserrat"/>
                <a:cs typeface="Montserrat"/>
                <a:sym typeface="Montserrat"/>
              </a:rPr>
              <a:t>2025</a:t>
            </a:r>
            <a:r>
              <a:rPr b="0" i="0" lang="en-US" sz="1350" u="none" cap="none" strike="noStrike">
                <a:solidFill>
                  <a:srgbClr val="4B5563"/>
                </a:solidFill>
                <a:latin typeface="Montserrat"/>
                <a:ea typeface="Montserrat"/>
                <a:cs typeface="Montserrat"/>
                <a:sym typeface="Montserrat"/>
              </a:rPr>
              <a:t>-</a:t>
            </a:r>
            <a:r>
              <a:rPr lang="en-US" sz="1350">
                <a:solidFill>
                  <a:srgbClr val="4B5563"/>
                </a:solidFill>
                <a:latin typeface="Montserrat"/>
                <a:ea typeface="Montserrat"/>
                <a:cs typeface="Montserrat"/>
                <a:sym typeface="Montserrat"/>
              </a:rPr>
              <a:t>11</a:t>
            </a:r>
            <a:r>
              <a:rPr b="0" i="0" lang="en-US" sz="1350" u="none" cap="none" strike="noStrike">
                <a:solidFill>
                  <a:srgbClr val="4B5563"/>
                </a:solidFill>
                <a:latin typeface="Montserrat"/>
                <a:ea typeface="Montserrat"/>
                <a:cs typeface="Montserrat"/>
                <a:sym typeface="Montserrat"/>
              </a:rPr>
              <a:t>-</a:t>
            </a:r>
            <a:r>
              <a:rPr lang="en-US" sz="1350">
                <a:solidFill>
                  <a:srgbClr val="4B5563"/>
                </a:solidFill>
                <a:latin typeface="Montserrat"/>
                <a:ea typeface="Montserrat"/>
                <a:cs typeface="Montserrat"/>
                <a:sym typeface="Montserrat"/>
              </a:rPr>
              <a:t>21</a:t>
            </a:r>
            <a:r>
              <a:rPr b="0" i="0" lang="en-US" sz="1350" u="none" cap="none" strike="noStrike">
                <a:solidFill>
                  <a:srgbClr val="4B5563"/>
                </a:solidFill>
                <a:latin typeface="Montserrat"/>
                <a:ea typeface="Montserrat"/>
                <a:cs typeface="Montserrat"/>
                <a:sym typeface="Montserrat"/>
              </a:rPr>
              <a:t>]</a:t>
            </a:r>
            <a:endParaRPr b="0" i="0" sz="1350" u="none" cap="none" strike="noStrike">
              <a:solidFill>
                <a:schemeClr val="dk1"/>
              </a:solidFill>
              <a:latin typeface="Calibri"/>
              <a:ea typeface="Calibri"/>
              <a:cs typeface="Calibri"/>
              <a:sym typeface="Calibri"/>
            </a:endParaRPr>
          </a:p>
        </p:txBody>
      </p:sp>
      <p:grpSp>
        <p:nvGrpSpPr>
          <p:cNvPr id="29" name="Google Shape;29;p1"/>
          <p:cNvGrpSpPr/>
          <p:nvPr/>
        </p:nvGrpSpPr>
        <p:grpSpPr>
          <a:xfrm>
            <a:off x="0" y="5979638"/>
            <a:ext cx="12192000" cy="764062"/>
            <a:chOff x="0" y="5979638"/>
            <a:chExt cx="12192000" cy="764062"/>
          </a:xfrm>
        </p:grpSpPr>
        <p:pic>
          <p:nvPicPr>
            <p:cNvPr descr="preencoded.png" id="30" name="Google Shape;30;p1"/>
            <p:cNvPicPr preferRelativeResize="0"/>
            <p:nvPr/>
          </p:nvPicPr>
          <p:blipFill rotWithShape="1">
            <a:blip r:embed="rId10">
              <a:alphaModFix/>
            </a:blip>
            <a:srcRect b="0" l="0" r="0" t="0"/>
            <a:stretch/>
          </p:blipFill>
          <p:spPr>
            <a:xfrm>
              <a:off x="0" y="5981700"/>
              <a:ext cx="12192000" cy="762000"/>
            </a:xfrm>
            <a:prstGeom prst="rect">
              <a:avLst/>
            </a:prstGeom>
            <a:noFill/>
            <a:ln>
              <a:noFill/>
            </a:ln>
          </p:spPr>
        </p:pic>
        <p:sp>
          <p:nvSpPr>
            <p:cNvPr id="31" name="Google Shape;31;p1"/>
            <p:cNvSpPr/>
            <p:nvPr/>
          </p:nvSpPr>
          <p:spPr>
            <a:xfrm>
              <a:off x="10418445" y="6276975"/>
              <a:ext cx="1773555" cy="17145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4B5563"/>
                </a:buClr>
                <a:buSzPts val="1800"/>
                <a:buFont typeface="Montserrat"/>
                <a:buNone/>
              </a:pPr>
              <a:r>
                <a:rPr b="1" i="0" lang="en-US" sz="1800" u="none" cap="none" strike="noStrike">
                  <a:solidFill>
                    <a:srgbClr val="4B5563"/>
                  </a:solidFill>
                  <a:latin typeface="Montserrat"/>
                  <a:ea typeface="Montserrat"/>
                  <a:cs typeface="Montserrat"/>
                  <a:sym typeface="Montserrat"/>
                </a:rPr>
                <a:t>CSAI School</a:t>
              </a:r>
              <a:endParaRPr b="0" i="0" sz="1800" u="none" cap="none" strike="noStrike">
                <a:solidFill>
                  <a:schemeClr val="dk1"/>
                </a:solidFill>
                <a:latin typeface="Calibri"/>
                <a:ea typeface="Calibri"/>
                <a:cs typeface="Calibri"/>
                <a:sym typeface="Calibri"/>
              </a:endParaRPr>
            </a:p>
          </p:txBody>
        </p:sp>
        <p:pic>
          <p:nvPicPr>
            <p:cNvPr id="32" name="Google Shape;32;p1"/>
            <p:cNvPicPr preferRelativeResize="0"/>
            <p:nvPr/>
          </p:nvPicPr>
          <p:blipFill rotWithShape="1">
            <a:blip r:embed="rId11">
              <a:alphaModFix/>
            </a:blip>
            <a:srcRect b="0" l="0" r="0" t="0"/>
            <a:stretch/>
          </p:blipFill>
          <p:spPr>
            <a:xfrm>
              <a:off x="116744" y="5979638"/>
              <a:ext cx="3740342" cy="762039"/>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pic>
        <p:nvPicPr>
          <p:cNvPr descr="preencoded.png" id="38" name="Google Shape;38;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9" name="Google Shape;39;p2"/>
          <p:cNvPicPr preferRelativeResize="0"/>
          <p:nvPr/>
        </p:nvPicPr>
        <p:blipFill rotWithShape="1">
          <a:blip r:embed="rId4">
            <a:alphaModFix/>
          </a:blip>
          <a:srcRect b="0" l="0" r="0" t="0"/>
          <a:stretch/>
        </p:blipFill>
        <p:spPr>
          <a:xfrm>
            <a:off x="0" y="0"/>
            <a:ext cx="12192000" cy="762000"/>
          </a:xfrm>
          <a:prstGeom prst="rect">
            <a:avLst/>
          </a:prstGeom>
          <a:noFill/>
          <a:ln>
            <a:noFill/>
          </a:ln>
        </p:spPr>
      </p:pic>
      <p:sp>
        <p:nvSpPr>
          <p:cNvPr id="40" name="Google Shape;40;p2"/>
          <p:cNvSpPr/>
          <p:nvPr/>
        </p:nvSpPr>
        <p:spPr>
          <a:xfrm>
            <a:off x="381000" y="209550"/>
            <a:ext cx="632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The Problem Statement </a:t>
            </a:r>
            <a:endParaRPr sz="2250">
              <a:solidFill>
                <a:schemeClr val="dk1"/>
              </a:solidFill>
              <a:latin typeface="Calibri"/>
              <a:ea typeface="Calibri"/>
              <a:cs typeface="Calibri"/>
              <a:sym typeface="Calibri"/>
            </a:endParaRPr>
          </a:p>
        </p:txBody>
      </p:sp>
      <p:sp>
        <p:nvSpPr>
          <p:cNvPr id="41" name="Google Shape;41;p2"/>
          <p:cNvSpPr/>
          <p:nvPr/>
        </p:nvSpPr>
        <p:spPr>
          <a:xfrm>
            <a:off x="152200" y="908100"/>
            <a:ext cx="10826100" cy="5949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Problem Statement</a:t>
            </a:r>
            <a:endParaRPr b="1" sz="1600">
              <a:solidFill>
                <a:schemeClr val="dk1"/>
              </a:solidFill>
            </a:endParaRPr>
          </a:p>
          <a:p>
            <a:pPr indent="0" lvl="0" marL="0" rtl="0" algn="l">
              <a:lnSpc>
                <a:spcPct val="115000"/>
              </a:lnSpc>
              <a:spcBef>
                <a:spcPts val="1200"/>
              </a:spcBef>
              <a:spcAft>
                <a:spcPts val="0"/>
              </a:spcAft>
              <a:buNone/>
            </a:pPr>
            <a:r>
              <a:rPr lang="en-US" sz="1600">
                <a:solidFill>
                  <a:schemeClr val="dk1"/>
                </a:solidFill>
              </a:rPr>
              <a:t>Current honeypots are too easy for hackers to spot. They give the same boring, robotic answers every time and don't act like real computer systems. When attackers realize it's a trap, they simply leave.</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Impact</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Security teams only get basic information like IP addresses, not useful details about what attackers actually do</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Hackers figure out it's a fake system within minutes and disconnect, so we learn almost nothing about them</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Companies lose the chance to see how real attacks happen, which makes it harder to defend against future threats</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600">
                <a:solidFill>
                  <a:schemeClr val="dk1"/>
                </a:solidFill>
              </a:rPr>
              <a:t>Why This Matters Now</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Today's hackers are smarter and can quickly tell fake systems from real ones. Security teams desperately need better honeypots that use AI to act more realistically, keep attackers engaged longer, and collect valuable information that helps stop future attacks.</a:t>
            </a:r>
            <a:endParaRPr sz="1600">
              <a:solidFill>
                <a:schemeClr val="dk1"/>
              </a:solidFill>
            </a:endParaRPr>
          </a:p>
          <a:p>
            <a:pPr indent="0" lvl="0" marL="0" rtl="0" algn="l">
              <a:lnSpc>
                <a:spcPct val="115000"/>
              </a:lnSpc>
              <a:spcBef>
                <a:spcPts val="1200"/>
              </a:spcBef>
              <a:spcAft>
                <a:spcPts val="0"/>
              </a:spcAft>
              <a:buNone/>
            </a:pPr>
            <a:r>
              <a:t/>
            </a:r>
            <a:endParaRPr b="1"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457200" rtl="0" algn="l">
              <a:lnSpc>
                <a:spcPct val="115000"/>
              </a:lnSpc>
              <a:spcBef>
                <a:spcPts val="1200"/>
              </a:spcBef>
              <a:spcAft>
                <a:spcPts val="0"/>
              </a:spcAft>
              <a:buNone/>
            </a:pPr>
            <a:br>
              <a:rPr lang="en-US" sz="1600">
                <a:solidFill>
                  <a:schemeClr val="dk1"/>
                </a:solidFill>
              </a:rPr>
            </a:b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914400" marR="0" rtl="0" algn="l">
              <a:spcBef>
                <a:spcPts val="1200"/>
              </a:spcBef>
              <a:spcAft>
                <a:spcPts val="0"/>
              </a:spcAft>
              <a:buNone/>
            </a:pPr>
            <a:r>
              <a:t/>
            </a:r>
            <a:endParaRPr b="1" sz="1800">
              <a:solidFill>
                <a:srgbClr val="FF0000"/>
              </a:solidFill>
            </a:endParaRPr>
          </a:p>
        </p:txBody>
      </p:sp>
      <p:pic>
        <p:nvPicPr>
          <p:cNvPr id="42" name="Google Shape;42;p2"/>
          <p:cNvPicPr preferRelativeResize="0"/>
          <p:nvPr/>
        </p:nvPicPr>
        <p:blipFill rotWithShape="1">
          <a:blip r:embed="rId5">
            <a:alphaModFix/>
          </a:blip>
          <a:srcRect b="0" l="0" r="0" t="0"/>
          <a:stretch/>
        </p:blipFill>
        <p:spPr>
          <a:xfrm>
            <a:off x="8451658" y="0"/>
            <a:ext cx="3740342" cy="762039"/>
          </a:xfrm>
          <a:prstGeom prst="rect">
            <a:avLst/>
          </a:prstGeom>
          <a:noFill/>
          <a:ln>
            <a:noFill/>
          </a:ln>
        </p:spPr>
      </p:pic>
      <p:pic>
        <p:nvPicPr>
          <p:cNvPr descr="preencoded.png" id="43" name="Google Shape;43;p2"/>
          <p:cNvPicPr preferRelativeResize="0"/>
          <p:nvPr/>
        </p:nvPicPr>
        <p:blipFill rotWithShape="1">
          <a:blip r:embed="rId6">
            <a:alphaModFix/>
          </a:blip>
          <a:srcRect b="0" l="0" r="0" t="0"/>
          <a:stretch/>
        </p:blipFill>
        <p:spPr>
          <a:xfrm>
            <a:off x="0" y="762000"/>
            <a:ext cx="12192000" cy="47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pic>
        <p:nvPicPr>
          <p:cNvPr descr="preencoded.png" id="49" name="Google Shape;49;p3"/>
          <p:cNvPicPr preferRelativeResize="0"/>
          <p:nvPr/>
        </p:nvPicPr>
        <p:blipFill rotWithShape="1">
          <a:blip r:embed="rId3">
            <a:alphaModFix/>
          </a:blip>
          <a:srcRect b="0" l="0" r="0" t="0"/>
          <a:stretch/>
        </p:blipFill>
        <p:spPr>
          <a:xfrm>
            <a:off x="0" y="0"/>
            <a:ext cx="12192000" cy="7286625"/>
          </a:xfrm>
          <a:prstGeom prst="rect">
            <a:avLst/>
          </a:prstGeom>
          <a:noFill/>
          <a:ln>
            <a:noFill/>
          </a:ln>
        </p:spPr>
      </p:pic>
      <p:pic>
        <p:nvPicPr>
          <p:cNvPr descr="preencoded.png" id="50" name="Google Shape;50;p3"/>
          <p:cNvPicPr preferRelativeResize="0"/>
          <p:nvPr/>
        </p:nvPicPr>
        <p:blipFill rotWithShape="1">
          <a:blip r:embed="rId4">
            <a:alphaModFix/>
          </a:blip>
          <a:srcRect b="0" l="0" r="0" t="0"/>
          <a:stretch/>
        </p:blipFill>
        <p:spPr>
          <a:xfrm>
            <a:off x="0" y="0"/>
            <a:ext cx="12192000" cy="762039"/>
          </a:xfrm>
          <a:prstGeom prst="rect">
            <a:avLst/>
          </a:prstGeom>
          <a:noFill/>
          <a:ln>
            <a:noFill/>
          </a:ln>
        </p:spPr>
      </p:pic>
      <p:sp>
        <p:nvSpPr>
          <p:cNvPr id="51" name="Google Shape;51;p3"/>
          <p:cNvSpPr/>
          <p:nvPr/>
        </p:nvSpPr>
        <p:spPr>
          <a:xfrm>
            <a:off x="381000" y="190500"/>
            <a:ext cx="114300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The Proposed Solution</a:t>
            </a:r>
            <a:endParaRPr sz="2250">
              <a:solidFill>
                <a:schemeClr val="dk1"/>
              </a:solidFill>
              <a:latin typeface="Calibri"/>
              <a:ea typeface="Calibri"/>
              <a:cs typeface="Calibri"/>
              <a:sym typeface="Calibri"/>
            </a:endParaRPr>
          </a:p>
        </p:txBody>
      </p:sp>
      <p:sp>
        <p:nvSpPr>
          <p:cNvPr id="52" name="Google Shape;52;p3"/>
          <p:cNvSpPr/>
          <p:nvPr/>
        </p:nvSpPr>
        <p:spPr>
          <a:xfrm>
            <a:off x="609600" y="533400"/>
            <a:ext cx="4876800" cy="5334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chemeClr val="dk1"/>
              </a:buClr>
              <a:buSzPts val="1350"/>
              <a:buFont typeface="Calibri"/>
              <a:buNone/>
            </a:pPr>
            <a:r>
              <a:t/>
            </a:r>
            <a:endParaRPr sz="1350">
              <a:solidFill>
                <a:schemeClr val="dk1"/>
              </a:solidFill>
              <a:latin typeface="Calibri"/>
              <a:ea typeface="Calibri"/>
              <a:cs typeface="Calibri"/>
              <a:sym typeface="Calibri"/>
            </a:endParaRPr>
          </a:p>
        </p:txBody>
      </p:sp>
      <p:pic>
        <p:nvPicPr>
          <p:cNvPr id="53" name="Google Shape;53;p3"/>
          <p:cNvPicPr preferRelativeResize="0"/>
          <p:nvPr/>
        </p:nvPicPr>
        <p:blipFill rotWithShape="1">
          <a:blip r:embed="rId5">
            <a:alphaModFix/>
          </a:blip>
          <a:srcRect b="0" l="0" r="0" t="0"/>
          <a:stretch/>
        </p:blipFill>
        <p:spPr>
          <a:xfrm>
            <a:off x="8451658" y="0"/>
            <a:ext cx="3740342" cy="762039"/>
          </a:xfrm>
          <a:prstGeom prst="rect">
            <a:avLst/>
          </a:prstGeom>
          <a:noFill/>
          <a:ln>
            <a:noFill/>
          </a:ln>
        </p:spPr>
      </p:pic>
      <p:sp>
        <p:nvSpPr>
          <p:cNvPr id="54" name="Google Shape;54;p3"/>
          <p:cNvSpPr/>
          <p:nvPr/>
        </p:nvSpPr>
        <p:spPr>
          <a:xfrm>
            <a:off x="151525" y="533400"/>
            <a:ext cx="10826100" cy="6525900"/>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t/>
            </a:r>
            <a:endParaRPr b="1" i="0" sz="1800" u="none" cap="none" strike="noStrike">
              <a:solidFill>
                <a:srgbClr val="FF0000"/>
              </a:solidFill>
            </a:endParaRPr>
          </a:p>
          <a:p>
            <a:pPr indent="0" lvl="0" marL="0" marR="0" rtl="0" algn="l">
              <a:spcBef>
                <a:spcPts val="0"/>
              </a:spcBef>
              <a:spcAft>
                <a:spcPts val="0"/>
              </a:spcAft>
              <a:buNone/>
            </a:pPr>
            <a:r>
              <a:rPr b="1" i="0" lang="en-US" sz="1800" u="none" cap="none" strike="noStrike">
                <a:solidFill>
                  <a:schemeClr val="dk1"/>
                </a:solidFill>
              </a:rPr>
              <a:t>Proposed Solution Overview</a:t>
            </a:r>
            <a:endParaRPr b="1" i="0" sz="1800" u="none" cap="none" strike="noStrike">
              <a:solidFill>
                <a:schemeClr val="dk1"/>
              </a:solidFill>
            </a:endParaRPr>
          </a:p>
          <a:p>
            <a:pPr indent="0" lvl="0" marL="0" marR="0" rtl="0" algn="l">
              <a:spcBef>
                <a:spcPts val="0"/>
              </a:spcBef>
              <a:spcAft>
                <a:spcPts val="0"/>
              </a:spcAft>
              <a:buNone/>
            </a:pPr>
            <a:r>
              <a:t/>
            </a:r>
            <a:endParaRPr b="1" sz="1800">
              <a:solidFill>
                <a:srgbClr val="FF0000"/>
              </a:solidFill>
            </a:endParaRPr>
          </a:p>
          <a:p>
            <a:pPr indent="0" lvl="0" marL="0" marR="0" rtl="0" algn="l">
              <a:spcBef>
                <a:spcPts val="0"/>
              </a:spcBef>
              <a:spcAft>
                <a:spcPts val="0"/>
              </a:spcAft>
              <a:buNone/>
            </a:pPr>
            <a:r>
              <a:rPr lang="en-US" sz="1600">
                <a:solidFill>
                  <a:schemeClr val="dk1"/>
                </a:solidFill>
              </a:rPr>
              <a:t>Honeyops </a:t>
            </a:r>
            <a:r>
              <a:rPr lang="en-US" sz="1600">
                <a:solidFill>
                  <a:schemeClr val="dk1"/>
                </a:solidFill>
              </a:rPr>
              <a:t>introduces</a:t>
            </a:r>
            <a:r>
              <a:rPr lang="en-US" sz="1600">
                <a:solidFill>
                  <a:schemeClr val="dk1"/>
                </a:solidFill>
              </a:rPr>
              <a:t> as AI driven </a:t>
            </a:r>
            <a:r>
              <a:rPr lang="en-US" sz="1600">
                <a:solidFill>
                  <a:schemeClr val="dk1"/>
                </a:solidFill>
              </a:rPr>
              <a:t>stateful</a:t>
            </a:r>
            <a:r>
              <a:rPr lang="en-US" sz="1600">
                <a:solidFill>
                  <a:schemeClr val="dk1"/>
                </a:solidFill>
              </a:rPr>
              <a:t> Honeypot designed to generate a </a:t>
            </a:r>
            <a:r>
              <a:rPr lang="en-US" sz="1600">
                <a:solidFill>
                  <a:schemeClr val="dk1"/>
                </a:solidFill>
              </a:rPr>
              <a:t>realistic</a:t>
            </a:r>
            <a:r>
              <a:rPr lang="en-US" sz="1600">
                <a:solidFill>
                  <a:schemeClr val="dk1"/>
                </a:solidFill>
              </a:rPr>
              <a:t> , context aware responses for different interaction like SSH and HTTP, instead behaving like the traditional </a:t>
            </a:r>
            <a:r>
              <a:rPr lang="en-US" sz="1600">
                <a:solidFill>
                  <a:schemeClr val="dk1"/>
                </a:solidFill>
              </a:rPr>
              <a:t>scripted</a:t>
            </a:r>
            <a:r>
              <a:rPr lang="en-US" sz="1600">
                <a:solidFill>
                  <a:schemeClr val="dk1"/>
                </a:solidFill>
              </a:rPr>
              <a:t> honeypots, </a:t>
            </a:r>
            <a:r>
              <a:rPr lang="en-US" sz="1600">
                <a:solidFill>
                  <a:schemeClr val="dk1"/>
                </a:solidFill>
              </a:rPr>
              <a:t>which</a:t>
            </a:r>
            <a:r>
              <a:rPr lang="en-US" sz="1600">
                <a:solidFill>
                  <a:schemeClr val="dk1"/>
                </a:solidFill>
              </a:rPr>
              <a:t> are static and predictable and easy to discover the system will use a sandbox fake OS state to simulate an </a:t>
            </a:r>
            <a:r>
              <a:rPr lang="en-US" sz="1600">
                <a:solidFill>
                  <a:schemeClr val="dk1"/>
                </a:solidFill>
              </a:rPr>
              <a:t>environment</a:t>
            </a:r>
            <a:r>
              <a:rPr lang="en-US" sz="1600">
                <a:solidFill>
                  <a:schemeClr val="dk1"/>
                </a:solidFill>
              </a:rPr>
              <a:t> which is </a:t>
            </a:r>
            <a:r>
              <a:rPr lang="en-US" sz="1600">
                <a:solidFill>
                  <a:schemeClr val="dk1"/>
                </a:solidFill>
              </a:rPr>
              <a:t>believable</a:t>
            </a:r>
            <a:r>
              <a:rPr lang="en-US" sz="1600">
                <a:solidFill>
                  <a:schemeClr val="dk1"/>
                </a:solidFill>
              </a:rPr>
              <a:t> and </a:t>
            </a:r>
            <a:r>
              <a:rPr lang="en-US" sz="1600">
                <a:solidFill>
                  <a:schemeClr val="dk1"/>
                </a:solidFill>
              </a:rPr>
              <a:t>persistent</a:t>
            </a:r>
            <a:r>
              <a:rPr b="1" lang="en-US" sz="1600">
                <a:solidFill>
                  <a:schemeClr val="dk1"/>
                </a:solidFill>
              </a:rPr>
              <a:t> </a:t>
            </a:r>
            <a:endParaRPr b="1" sz="1600">
              <a:solidFill>
                <a:schemeClr val="dk1"/>
              </a:solidFill>
            </a:endParaRPr>
          </a:p>
          <a:p>
            <a:pPr indent="0" lvl="0" marL="0" marR="0" rtl="0" algn="l">
              <a:spcBef>
                <a:spcPts val="0"/>
              </a:spcBef>
              <a:spcAft>
                <a:spcPts val="0"/>
              </a:spcAft>
              <a:buNone/>
            </a:pPr>
            <a:r>
              <a:rPr b="1" lang="en-US" sz="1600">
                <a:solidFill>
                  <a:schemeClr val="dk1"/>
                </a:solidFill>
              </a:rPr>
              <a:t>Key Features </a:t>
            </a:r>
            <a:endParaRPr b="1" sz="1600">
              <a:solidFill>
                <a:schemeClr val="dk1"/>
              </a:solidFill>
            </a:endParaRPr>
          </a:p>
          <a:p>
            <a:pPr indent="-330200" lvl="0" marL="457200" marR="0" rtl="0" algn="l">
              <a:spcBef>
                <a:spcPts val="0"/>
              </a:spcBef>
              <a:spcAft>
                <a:spcPts val="0"/>
              </a:spcAft>
              <a:buClr>
                <a:schemeClr val="dk1"/>
              </a:buClr>
              <a:buSzPts val="1600"/>
              <a:buChar char="●"/>
            </a:pPr>
            <a:r>
              <a:rPr lang="en-US" sz="1600">
                <a:solidFill>
                  <a:schemeClr val="dk1"/>
                </a:solidFill>
              </a:rPr>
              <a:t>AI Engine: generates the OS output, analyze commands and </a:t>
            </a:r>
            <a:r>
              <a:rPr lang="en-US" sz="1600">
                <a:solidFill>
                  <a:schemeClr val="dk1"/>
                </a:solidFill>
              </a:rPr>
              <a:t>extract</a:t>
            </a:r>
            <a:r>
              <a:rPr lang="en-US" sz="1600">
                <a:solidFill>
                  <a:schemeClr val="dk1"/>
                </a:solidFill>
              </a:rPr>
              <a:t> the IOCs and maps events to the mitre </a:t>
            </a:r>
            <a:r>
              <a:rPr lang="en-US" sz="1600">
                <a:solidFill>
                  <a:schemeClr val="dk1"/>
                </a:solidFill>
              </a:rPr>
              <a:t>framework</a:t>
            </a:r>
            <a:r>
              <a:rPr lang="en-US" sz="1600">
                <a:solidFill>
                  <a:schemeClr val="dk1"/>
                </a:solidFill>
              </a:rPr>
              <a:t> </a:t>
            </a:r>
            <a:endParaRPr sz="1600">
              <a:solidFill>
                <a:schemeClr val="dk1"/>
              </a:solidFill>
            </a:endParaRPr>
          </a:p>
          <a:p>
            <a:pPr indent="0" lvl="0" marL="457200" marR="0" rtl="0" algn="l">
              <a:spcBef>
                <a:spcPts val="0"/>
              </a:spcBef>
              <a:spcAft>
                <a:spcPts val="0"/>
              </a:spcAft>
              <a:buNone/>
            </a:pPr>
            <a:r>
              <a:t/>
            </a:r>
            <a:endParaRPr sz="1600">
              <a:solidFill>
                <a:schemeClr val="dk1"/>
              </a:solidFill>
            </a:endParaRPr>
          </a:p>
          <a:p>
            <a:pPr indent="-330200" lvl="0" marL="457200" marR="0" rtl="0" algn="l">
              <a:spcBef>
                <a:spcPts val="0"/>
              </a:spcBef>
              <a:spcAft>
                <a:spcPts val="0"/>
              </a:spcAft>
              <a:buClr>
                <a:schemeClr val="dk1"/>
              </a:buClr>
              <a:buSzPts val="1600"/>
              <a:buChar char="●"/>
            </a:pPr>
            <a:r>
              <a:rPr lang="en-US" sz="1600">
                <a:solidFill>
                  <a:schemeClr val="dk1"/>
                </a:solidFill>
              </a:rPr>
              <a:t>Sand state store: M</a:t>
            </a:r>
            <a:r>
              <a:rPr lang="en-US" sz="1600">
                <a:solidFill>
                  <a:schemeClr val="dk1"/>
                </a:solidFill>
              </a:rPr>
              <a:t>aintain</a:t>
            </a:r>
            <a:r>
              <a:rPr lang="en-US" sz="1600">
                <a:solidFill>
                  <a:schemeClr val="dk1"/>
                </a:solidFill>
              </a:rPr>
              <a:t> a simulated filesystem, logs ,</a:t>
            </a:r>
            <a:r>
              <a:rPr lang="en-US" sz="1600">
                <a:solidFill>
                  <a:schemeClr val="dk1"/>
                </a:solidFill>
              </a:rPr>
              <a:t>process</a:t>
            </a:r>
            <a:r>
              <a:rPr lang="en-US" sz="1600">
                <a:solidFill>
                  <a:schemeClr val="dk1"/>
                </a:solidFill>
              </a:rPr>
              <a:t> ,logs ,system </a:t>
            </a:r>
            <a:r>
              <a:rPr lang="en-US" sz="1600">
                <a:solidFill>
                  <a:schemeClr val="dk1"/>
                </a:solidFill>
              </a:rPr>
              <a:t>state</a:t>
            </a:r>
            <a:r>
              <a:rPr lang="en-US" sz="1600">
                <a:solidFill>
                  <a:schemeClr val="dk1"/>
                </a:solidFill>
              </a:rPr>
              <a:t> with </a:t>
            </a:r>
            <a:r>
              <a:rPr lang="en-US" sz="1600">
                <a:solidFill>
                  <a:schemeClr val="dk1"/>
                </a:solidFill>
              </a:rPr>
              <a:t>persistent</a:t>
            </a:r>
            <a:r>
              <a:rPr lang="en-US" sz="1600">
                <a:solidFill>
                  <a:schemeClr val="dk1"/>
                </a:solidFill>
              </a:rPr>
              <a:t> fake data, which will enable </a:t>
            </a:r>
            <a:r>
              <a:rPr lang="en-US" sz="1600">
                <a:solidFill>
                  <a:schemeClr val="dk1"/>
                </a:solidFill>
              </a:rPr>
              <a:t>realistic</a:t>
            </a:r>
            <a:r>
              <a:rPr lang="en-US" sz="1600">
                <a:solidFill>
                  <a:schemeClr val="dk1"/>
                </a:solidFill>
              </a:rPr>
              <a:t> multi step </a:t>
            </a:r>
            <a:r>
              <a:rPr lang="en-US" sz="1600">
                <a:solidFill>
                  <a:schemeClr val="dk1"/>
                </a:solidFill>
              </a:rPr>
              <a:t>interaction</a:t>
            </a:r>
            <a:r>
              <a:rPr lang="en-US" sz="1600">
                <a:solidFill>
                  <a:schemeClr val="dk1"/>
                </a:solidFill>
              </a:rPr>
              <a:t> </a:t>
            </a:r>
            <a:endParaRPr sz="1600">
              <a:solidFill>
                <a:schemeClr val="dk1"/>
              </a:solidFill>
            </a:endParaRPr>
          </a:p>
          <a:p>
            <a:pPr indent="0" lvl="0" marL="457200" marR="0" rtl="0" algn="l">
              <a:spcBef>
                <a:spcPts val="0"/>
              </a:spcBef>
              <a:spcAft>
                <a:spcPts val="0"/>
              </a:spcAft>
              <a:buNone/>
            </a:pPr>
            <a:r>
              <a:t/>
            </a:r>
            <a:endParaRPr sz="1600">
              <a:solidFill>
                <a:schemeClr val="dk1"/>
              </a:solidFill>
            </a:endParaRPr>
          </a:p>
          <a:p>
            <a:pPr indent="-330200" lvl="0" marL="457200" marR="0" rtl="0" algn="l">
              <a:spcBef>
                <a:spcPts val="0"/>
              </a:spcBef>
              <a:spcAft>
                <a:spcPts val="0"/>
              </a:spcAft>
              <a:buClr>
                <a:schemeClr val="dk1"/>
              </a:buClr>
              <a:buSzPts val="1600"/>
              <a:buChar char="●"/>
            </a:pPr>
            <a:r>
              <a:rPr lang="en-US" sz="1600">
                <a:solidFill>
                  <a:schemeClr val="dk1"/>
                </a:solidFill>
              </a:rPr>
              <a:t>SSH and HTTP: Frontends that accept real attack inputs and return AI generated </a:t>
            </a:r>
            <a:r>
              <a:rPr lang="en-US" sz="1600">
                <a:solidFill>
                  <a:schemeClr val="dk1"/>
                </a:solidFill>
              </a:rPr>
              <a:t>responses</a:t>
            </a:r>
            <a:r>
              <a:rPr lang="en-US" sz="1600">
                <a:solidFill>
                  <a:schemeClr val="dk1"/>
                </a:solidFill>
              </a:rPr>
              <a:t>, and also prevent real commands execution </a:t>
            </a:r>
            <a:endParaRPr sz="1600">
              <a:solidFill>
                <a:schemeClr val="dk1"/>
              </a:solidFill>
            </a:endParaRPr>
          </a:p>
          <a:p>
            <a:pPr indent="0" lvl="0" marL="457200" marR="0" rtl="0" algn="l">
              <a:spcBef>
                <a:spcPts val="0"/>
              </a:spcBef>
              <a:spcAft>
                <a:spcPts val="0"/>
              </a:spcAft>
              <a:buNone/>
            </a:pPr>
            <a:r>
              <a:t/>
            </a:r>
            <a:endParaRPr sz="1600">
              <a:solidFill>
                <a:schemeClr val="dk1"/>
              </a:solidFill>
            </a:endParaRPr>
          </a:p>
          <a:p>
            <a:pPr indent="-330200" lvl="0" marL="457200" marR="0" rtl="0" algn="l">
              <a:spcBef>
                <a:spcPts val="0"/>
              </a:spcBef>
              <a:spcAft>
                <a:spcPts val="0"/>
              </a:spcAft>
              <a:buClr>
                <a:schemeClr val="dk1"/>
              </a:buClr>
              <a:buSzPts val="1600"/>
              <a:buChar char="●"/>
            </a:pPr>
            <a:r>
              <a:rPr lang="en-US" sz="1600">
                <a:solidFill>
                  <a:schemeClr val="dk1"/>
                </a:solidFill>
              </a:rPr>
              <a:t>IOC Extraction and Mapping: Real </a:t>
            </a:r>
            <a:r>
              <a:rPr lang="en-US" sz="1600">
                <a:solidFill>
                  <a:schemeClr val="dk1"/>
                </a:solidFill>
              </a:rPr>
              <a:t>time</a:t>
            </a:r>
            <a:r>
              <a:rPr lang="en-US" sz="1600">
                <a:solidFill>
                  <a:schemeClr val="dk1"/>
                </a:solidFill>
              </a:rPr>
              <a:t> </a:t>
            </a:r>
            <a:r>
              <a:rPr lang="en-US" sz="1600">
                <a:solidFill>
                  <a:schemeClr val="dk1"/>
                </a:solidFill>
              </a:rPr>
              <a:t>identification</a:t>
            </a:r>
            <a:r>
              <a:rPr lang="en-US" sz="1600">
                <a:solidFill>
                  <a:schemeClr val="dk1"/>
                </a:solidFill>
              </a:rPr>
              <a:t> of </a:t>
            </a:r>
            <a:r>
              <a:rPr lang="en-US" sz="1600">
                <a:solidFill>
                  <a:schemeClr val="dk1"/>
                </a:solidFill>
              </a:rPr>
              <a:t>attacker</a:t>
            </a:r>
            <a:r>
              <a:rPr lang="en-US" sz="1600">
                <a:solidFill>
                  <a:schemeClr val="dk1"/>
                </a:solidFill>
              </a:rPr>
              <a:t> tools, payload ,IPs ,etc.., translated to </a:t>
            </a:r>
            <a:r>
              <a:rPr lang="en-US" sz="1600">
                <a:solidFill>
                  <a:schemeClr val="dk1"/>
                </a:solidFill>
              </a:rPr>
              <a:t>structured</a:t>
            </a:r>
            <a:r>
              <a:rPr lang="en-US" sz="1600">
                <a:solidFill>
                  <a:schemeClr val="dk1"/>
                </a:solidFill>
              </a:rPr>
              <a:t> ATT&amp;CK </a:t>
            </a:r>
            <a:r>
              <a:rPr lang="en-US" sz="1600">
                <a:solidFill>
                  <a:schemeClr val="dk1"/>
                </a:solidFill>
              </a:rPr>
              <a:t>technique</a:t>
            </a:r>
            <a:r>
              <a:rPr lang="en-US" sz="1600">
                <a:solidFill>
                  <a:schemeClr val="dk1"/>
                </a:solidFill>
              </a:rPr>
              <a:t> mappings</a:t>
            </a:r>
            <a:endParaRPr sz="1600">
              <a:solidFill>
                <a:schemeClr val="dk1"/>
              </a:solidFill>
            </a:endParaRPr>
          </a:p>
          <a:p>
            <a:pPr indent="0" lvl="0" marL="457200" marR="0" rtl="0" algn="l">
              <a:spcBef>
                <a:spcPts val="0"/>
              </a:spcBef>
              <a:spcAft>
                <a:spcPts val="0"/>
              </a:spcAft>
              <a:buNone/>
            </a:pPr>
            <a:r>
              <a:t/>
            </a:r>
            <a:endParaRPr sz="1600">
              <a:solidFill>
                <a:schemeClr val="dk1"/>
              </a:solidFill>
            </a:endParaRPr>
          </a:p>
          <a:p>
            <a:pPr indent="-330200" lvl="0" marL="457200" marR="0" rtl="0" algn="l">
              <a:spcBef>
                <a:spcPts val="0"/>
              </a:spcBef>
              <a:spcAft>
                <a:spcPts val="0"/>
              </a:spcAft>
              <a:buClr>
                <a:schemeClr val="dk1"/>
              </a:buClr>
              <a:buSzPts val="1600"/>
              <a:buChar char="●"/>
            </a:pPr>
            <a:r>
              <a:rPr lang="en-US" sz="1600">
                <a:solidFill>
                  <a:schemeClr val="dk1"/>
                </a:solidFill>
              </a:rPr>
              <a:t>Dashboard: A monitoring </a:t>
            </a:r>
            <a:r>
              <a:rPr lang="en-US" sz="1600">
                <a:solidFill>
                  <a:schemeClr val="dk1"/>
                </a:solidFill>
              </a:rPr>
              <a:t>interface</a:t>
            </a:r>
            <a:r>
              <a:rPr lang="en-US" sz="1600">
                <a:solidFill>
                  <a:schemeClr val="dk1"/>
                </a:solidFill>
              </a:rPr>
              <a:t> for live sessions and IOC </a:t>
            </a:r>
            <a:r>
              <a:rPr lang="en-US" sz="1600">
                <a:solidFill>
                  <a:schemeClr val="dk1"/>
                </a:solidFill>
              </a:rPr>
              <a:t>summaries</a:t>
            </a:r>
            <a:r>
              <a:rPr lang="en-US" sz="1600">
                <a:solidFill>
                  <a:schemeClr val="dk1"/>
                </a:solidFill>
              </a:rPr>
              <a:t>, ATT&amp;CK </a:t>
            </a:r>
            <a:r>
              <a:rPr lang="en-US" sz="1600">
                <a:solidFill>
                  <a:schemeClr val="dk1"/>
                </a:solidFill>
              </a:rPr>
              <a:t>heatmaps</a:t>
            </a:r>
            <a:r>
              <a:rPr lang="en-US" sz="1600">
                <a:solidFill>
                  <a:schemeClr val="dk1"/>
                </a:solidFill>
              </a:rPr>
              <a:t> and </a:t>
            </a:r>
            <a:r>
              <a:rPr lang="en-US" sz="1600">
                <a:solidFill>
                  <a:schemeClr val="dk1"/>
                </a:solidFill>
              </a:rPr>
              <a:t>reports</a:t>
            </a:r>
            <a:r>
              <a:rPr lang="en-US" sz="1600">
                <a:solidFill>
                  <a:schemeClr val="dk1"/>
                </a:solidFill>
              </a:rPr>
              <a:t> for helping SOC </a:t>
            </a:r>
            <a:r>
              <a:rPr lang="en-US" sz="1600">
                <a:solidFill>
                  <a:schemeClr val="dk1"/>
                </a:solidFill>
              </a:rPr>
              <a:t>analysts</a:t>
            </a:r>
            <a:r>
              <a:rPr b="1" lang="en-US" sz="1600">
                <a:solidFill>
                  <a:schemeClr val="dk1"/>
                </a:solidFill>
              </a:rPr>
              <a:t> </a:t>
            </a:r>
            <a:endParaRPr b="1" sz="1600">
              <a:solidFill>
                <a:schemeClr val="dk1"/>
              </a:solidFill>
            </a:endParaRPr>
          </a:p>
          <a:p>
            <a:pPr indent="0" lvl="0" marL="0" marR="0" rtl="0" algn="l">
              <a:spcBef>
                <a:spcPts val="0"/>
              </a:spcBef>
              <a:spcAft>
                <a:spcPts val="0"/>
              </a:spcAft>
              <a:buNone/>
            </a:pPr>
            <a:r>
              <a:t/>
            </a:r>
            <a:endParaRPr b="1" sz="1600">
              <a:solidFill>
                <a:schemeClr val="dk1"/>
              </a:solidFill>
            </a:endParaRPr>
          </a:p>
          <a:p>
            <a:pPr indent="0" lvl="0" marL="0" marR="0" rtl="0" algn="l">
              <a:spcBef>
                <a:spcPts val="0"/>
              </a:spcBef>
              <a:spcAft>
                <a:spcPts val="0"/>
              </a:spcAft>
              <a:buNone/>
            </a:pPr>
            <a:r>
              <a:rPr b="1" lang="en-US" sz="1600">
                <a:solidFill>
                  <a:schemeClr val="dk1"/>
                </a:solidFill>
              </a:rPr>
              <a:t>Key </a:t>
            </a:r>
            <a:r>
              <a:rPr b="1" lang="en-US" sz="1600">
                <a:solidFill>
                  <a:schemeClr val="dk1"/>
                </a:solidFill>
              </a:rPr>
              <a:t>Differentiators</a:t>
            </a:r>
            <a:r>
              <a:rPr b="1" lang="en-US" sz="1600">
                <a:solidFill>
                  <a:schemeClr val="dk1"/>
                </a:solidFill>
              </a:rPr>
              <a:t>:</a:t>
            </a:r>
            <a:r>
              <a:rPr lang="en-US" sz="1600">
                <a:solidFill>
                  <a:schemeClr val="dk1"/>
                </a:solidFill>
              </a:rPr>
              <a:t> P</a:t>
            </a:r>
            <a:r>
              <a:rPr lang="en-US" sz="1600">
                <a:solidFill>
                  <a:schemeClr val="dk1"/>
                </a:solidFill>
              </a:rPr>
              <a:t>ersistent</a:t>
            </a:r>
            <a:r>
              <a:rPr lang="en-US" sz="1600">
                <a:solidFill>
                  <a:schemeClr val="dk1"/>
                </a:solidFill>
              </a:rPr>
              <a:t> fake state, controlled </a:t>
            </a:r>
            <a:r>
              <a:rPr lang="en-US" sz="1600">
                <a:solidFill>
                  <a:schemeClr val="dk1"/>
                </a:solidFill>
              </a:rPr>
              <a:t>realism</a:t>
            </a:r>
            <a:r>
              <a:rPr lang="en-US" sz="1600">
                <a:solidFill>
                  <a:schemeClr val="dk1"/>
                </a:solidFill>
              </a:rPr>
              <a:t> ( timing, errors, banners), and a richer </a:t>
            </a:r>
            <a:r>
              <a:rPr lang="en-US" sz="1600">
                <a:solidFill>
                  <a:schemeClr val="dk1"/>
                </a:solidFill>
              </a:rPr>
              <a:t>threat</a:t>
            </a:r>
            <a:r>
              <a:rPr lang="en-US" sz="1600">
                <a:solidFill>
                  <a:schemeClr val="dk1"/>
                </a:solidFill>
              </a:rPr>
              <a:t> </a:t>
            </a:r>
            <a:r>
              <a:rPr lang="en-US" sz="1600">
                <a:solidFill>
                  <a:schemeClr val="dk1"/>
                </a:solidFill>
              </a:rPr>
              <a:t>intelligence </a:t>
            </a:r>
            <a:r>
              <a:rPr lang="en-US" sz="1600">
                <a:solidFill>
                  <a:schemeClr val="dk1"/>
                </a:solidFill>
              </a:rPr>
              <a:t> </a:t>
            </a:r>
            <a:endParaRPr sz="1600">
              <a:solidFill>
                <a:schemeClr val="dk1"/>
              </a:solidFill>
            </a:endParaRPr>
          </a:p>
          <a:p>
            <a:pPr indent="0" lvl="0" marL="0" marR="0" rtl="0" algn="l">
              <a:spcBef>
                <a:spcPts val="0"/>
              </a:spcBef>
              <a:spcAft>
                <a:spcPts val="0"/>
              </a:spcAft>
              <a:buNone/>
            </a:pPr>
            <a:r>
              <a:t/>
            </a:r>
            <a:endParaRPr sz="1600">
              <a:solidFill>
                <a:srgbClr val="FF0000"/>
              </a:solidFill>
            </a:endParaRPr>
          </a:p>
          <a:p>
            <a:pPr indent="0" lvl="0" marL="0" marR="0" rtl="0" algn="l">
              <a:spcBef>
                <a:spcPts val="0"/>
              </a:spcBef>
              <a:spcAft>
                <a:spcPts val="0"/>
              </a:spcAft>
              <a:buNone/>
            </a:pPr>
            <a:r>
              <a:t/>
            </a:r>
            <a:endParaRPr b="1" sz="1600">
              <a:solidFill>
                <a:srgbClr val="FF0000"/>
              </a:solidFill>
            </a:endParaRPr>
          </a:p>
        </p:txBody>
      </p:sp>
      <p:pic>
        <p:nvPicPr>
          <p:cNvPr descr="preencoded.png" id="55" name="Google Shape;55;p3"/>
          <p:cNvPicPr preferRelativeResize="0"/>
          <p:nvPr/>
        </p:nvPicPr>
        <p:blipFill rotWithShape="1">
          <a:blip r:embed="rId6">
            <a:alphaModFix/>
          </a:blip>
          <a:srcRect b="0" l="0" r="0" t="0"/>
          <a:stretch/>
        </p:blipFill>
        <p:spPr>
          <a:xfrm>
            <a:off x="0" y="762000"/>
            <a:ext cx="12192000" cy="47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descr="preencoded.png" id="61" name="Google Shape;61;p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62" name="Google Shape;62;p4"/>
          <p:cNvPicPr preferRelativeResize="0"/>
          <p:nvPr/>
        </p:nvPicPr>
        <p:blipFill rotWithShape="1">
          <a:blip r:embed="rId4">
            <a:alphaModFix/>
          </a:blip>
          <a:srcRect b="0" l="0" r="0" t="0"/>
          <a:stretch/>
        </p:blipFill>
        <p:spPr>
          <a:xfrm>
            <a:off x="0" y="0"/>
            <a:ext cx="12192000" cy="762000"/>
          </a:xfrm>
          <a:prstGeom prst="rect">
            <a:avLst/>
          </a:prstGeom>
          <a:noFill/>
          <a:ln>
            <a:noFill/>
          </a:ln>
        </p:spPr>
      </p:pic>
      <p:sp>
        <p:nvSpPr>
          <p:cNvPr id="63" name="Google Shape;63;p4"/>
          <p:cNvSpPr/>
          <p:nvPr/>
        </p:nvSpPr>
        <p:spPr>
          <a:xfrm>
            <a:off x="381000" y="209550"/>
            <a:ext cx="632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Target Audience</a:t>
            </a:r>
            <a:endParaRPr sz="2250">
              <a:solidFill>
                <a:schemeClr val="dk1"/>
              </a:solidFill>
              <a:latin typeface="Calibri"/>
              <a:ea typeface="Calibri"/>
              <a:cs typeface="Calibri"/>
              <a:sym typeface="Calibri"/>
            </a:endParaRPr>
          </a:p>
        </p:txBody>
      </p:sp>
      <p:pic>
        <p:nvPicPr>
          <p:cNvPr id="64" name="Google Shape;64;p4"/>
          <p:cNvPicPr preferRelativeResize="0"/>
          <p:nvPr/>
        </p:nvPicPr>
        <p:blipFill rotWithShape="1">
          <a:blip r:embed="rId5">
            <a:alphaModFix/>
          </a:blip>
          <a:srcRect b="0" l="0" r="0" t="0"/>
          <a:stretch/>
        </p:blipFill>
        <p:spPr>
          <a:xfrm>
            <a:off x="8451658" y="0"/>
            <a:ext cx="3740342" cy="762039"/>
          </a:xfrm>
          <a:prstGeom prst="rect">
            <a:avLst/>
          </a:prstGeom>
          <a:noFill/>
          <a:ln>
            <a:noFill/>
          </a:ln>
        </p:spPr>
      </p:pic>
      <p:sp>
        <p:nvSpPr>
          <p:cNvPr id="65" name="Google Shape;65;p4"/>
          <p:cNvSpPr/>
          <p:nvPr/>
        </p:nvSpPr>
        <p:spPr>
          <a:xfrm>
            <a:off x="306594" y="1019166"/>
            <a:ext cx="10826100" cy="23082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lang="en-US" sz="1600">
                <a:solidFill>
                  <a:schemeClr val="dk1"/>
                </a:solidFill>
              </a:rPr>
              <a:t>Primary User Persona:</a:t>
            </a:r>
            <a:br>
              <a:rPr b="1" lang="en-US" sz="1600">
                <a:solidFill>
                  <a:schemeClr val="dk1"/>
                </a:solidFill>
              </a:rPr>
            </a:br>
            <a:r>
              <a:rPr lang="en-US" sz="1600">
                <a:solidFill>
                  <a:schemeClr val="dk1"/>
                </a:solidFill>
              </a:rPr>
              <a:t>Security Operations Center (SOC) Analysts &amp; Incident Responders at mid–large organizations.</a:t>
            </a:r>
            <a:endParaRPr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User Characteristics: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Work under pressure to detect, analyze, and respond to cyberattacks.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Need fast visibility into attacker behavior, tools, and techniques.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Operate multiple security platforms (SIEM, IDS/IPS, EDR).</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Often deal with alert fatigue and incomplete logs.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Need reliable high-fidelity data for threat intelligence and reporting.</a:t>
            </a:r>
            <a:endParaRPr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The Need:</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Traditional honeypots are too static and easy for attackers to detect, giving almost no useful insights.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SOC teams need </a:t>
            </a:r>
            <a:r>
              <a:rPr b="1" lang="en-US" sz="1600">
                <a:solidFill>
                  <a:schemeClr val="dk1"/>
                </a:solidFill>
              </a:rPr>
              <a:t>realistic, multi-step attacker interaction data</a:t>
            </a:r>
            <a:r>
              <a:rPr lang="en-US" sz="1600">
                <a:solidFill>
                  <a:schemeClr val="dk1"/>
                </a:solidFill>
              </a:rPr>
              <a:t> to understand TTPs (techniques, tactics, procedures).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They need </a:t>
            </a:r>
            <a:r>
              <a:rPr b="1" lang="en-US" sz="1600">
                <a:solidFill>
                  <a:schemeClr val="dk1"/>
                </a:solidFill>
              </a:rPr>
              <a:t>automatic IOC extraction</a:t>
            </a:r>
            <a:r>
              <a:rPr lang="en-US" sz="1600">
                <a:solidFill>
                  <a:schemeClr val="dk1"/>
                </a:solidFill>
              </a:rPr>
              <a:t>, </a:t>
            </a:r>
            <a:r>
              <a:rPr b="1" lang="en-US" sz="1600">
                <a:solidFill>
                  <a:schemeClr val="dk1"/>
                </a:solidFill>
              </a:rPr>
              <a:t>MITRE ATT&amp;CK mapping</a:t>
            </a:r>
            <a:r>
              <a:rPr lang="en-US" sz="1600">
                <a:solidFill>
                  <a:schemeClr val="dk1"/>
                </a:solidFill>
              </a:rPr>
              <a:t>, and </a:t>
            </a:r>
            <a:r>
              <a:rPr b="1" lang="en-US" sz="1600">
                <a:solidFill>
                  <a:schemeClr val="dk1"/>
                </a:solidFill>
              </a:rPr>
              <a:t>live session monitoring</a:t>
            </a:r>
            <a:r>
              <a:rPr lang="en-US" sz="1600">
                <a:solidFill>
                  <a:schemeClr val="dk1"/>
                </a:solidFill>
              </a:rPr>
              <a:t> without risking real system compromise.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HoneyOps provides </a:t>
            </a:r>
            <a:r>
              <a:rPr b="1" lang="en-US" sz="1600">
                <a:solidFill>
                  <a:schemeClr val="dk1"/>
                </a:solidFill>
              </a:rPr>
              <a:t>rich, believable attacker behavior</a:t>
            </a:r>
            <a:r>
              <a:rPr lang="en-US" sz="1600">
                <a:solidFill>
                  <a:schemeClr val="dk1"/>
                </a:solidFill>
              </a:rPr>
              <a:t>, giving analysts clearer evidence, faster investigations, and stronger threat intel.</a:t>
            </a:r>
            <a:endParaRPr b="1" sz="2300">
              <a:solidFill>
                <a:srgbClr val="FF0000"/>
              </a:solidFill>
            </a:endParaRPr>
          </a:p>
        </p:txBody>
      </p:sp>
      <p:pic>
        <p:nvPicPr>
          <p:cNvPr descr="preencoded.png" id="66" name="Google Shape;66;p4"/>
          <p:cNvPicPr preferRelativeResize="0"/>
          <p:nvPr/>
        </p:nvPicPr>
        <p:blipFill rotWithShape="1">
          <a:blip r:embed="rId6">
            <a:alphaModFix/>
          </a:blip>
          <a:srcRect b="0" l="0" r="0" t="0"/>
          <a:stretch/>
        </p:blipFill>
        <p:spPr>
          <a:xfrm>
            <a:off x="0" y="762000"/>
            <a:ext cx="12192000" cy="4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preencoded.png" id="72" name="Google Shape;72;p5"/>
          <p:cNvPicPr preferRelativeResize="0"/>
          <p:nvPr/>
        </p:nvPicPr>
        <p:blipFill rotWithShape="1">
          <a:blip r:embed="rId3">
            <a:alphaModFix/>
          </a:blip>
          <a:srcRect b="0" l="0" r="0" t="0"/>
          <a:stretch/>
        </p:blipFill>
        <p:spPr>
          <a:xfrm>
            <a:off x="0" y="0"/>
            <a:ext cx="12192000" cy="762000"/>
          </a:xfrm>
          <a:prstGeom prst="rect">
            <a:avLst/>
          </a:prstGeom>
          <a:noFill/>
          <a:ln>
            <a:noFill/>
          </a:ln>
        </p:spPr>
      </p:pic>
      <p:pic>
        <p:nvPicPr>
          <p:cNvPr descr="preencoded.png" id="73" name="Google Shape;73;p5"/>
          <p:cNvPicPr preferRelativeResize="0"/>
          <p:nvPr/>
        </p:nvPicPr>
        <p:blipFill rotWithShape="1">
          <a:blip r:embed="rId4">
            <a:alphaModFix/>
          </a:blip>
          <a:srcRect b="0" l="0" r="0" t="0"/>
          <a:stretch/>
        </p:blipFill>
        <p:spPr>
          <a:xfrm>
            <a:off x="381000" y="1569959"/>
            <a:ext cx="11430000" cy="514350"/>
          </a:xfrm>
          <a:prstGeom prst="rect">
            <a:avLst/>
          </a:prstGeom>
          <a:noFill/>
          <a:ln>
            <a:noFill/>
          </a:ln>
        </p:spPr>
      </p:pic>
      <p:pic>
        <p:nvPicPr>
          <p:cNvPr descr="preencoded.png" id="74" name="Google Shape;74;p5"/>
          <p:cNvPicPr preferRelativeResize="0"/>
          <p:nvPr/>
        </p:nvPicPr>
        <p:blipFill rotWithShape="1">
          <a:blip r:embed="rId5">
            <a:alphaModFix/>
          </a:blip>
          <a:srcRect b="0" l="0" r="0" t="0"/>
          <a:stretch/>
        </p:blipFill>
        <p:spPr>
          <a:xfrm>
            <a:off x="381000" y="1569959"/>
            <a:ext cx="2406253" cy="514350"/>
          </a:xfrm>
          <a:prstGeom prst="rect">
            <a:avLst/>
          </a:prstGeom>
          <a:noFill/>
          <a:ln>
            <a:noFill/>
          </a:ln>
        </p:spPr>
      </p:pic>
      <p:pic>
        <p:nvPicPr>
          <p:cNvPr descr="preencoded.png" id="75" name="Google Shape;75;p5"/>
          <p:cNvPicPr preferRelativeResize="0"/>
          <p:nvPr/>
        </p:nvPicPr>
        <p:blipFill rotWithShape="1">
          <a:blip r:embed="rId6">
            <a:alphaModFix/>
          </a:blip>
          <a:srcRect b="0" l="0" r="0" t="0"/>
          <a:stretch/>
        </p:blipFill>
        <p:spPr>
          <a:xfrm>
            <a:off x="2787253" y="1569959"/>
            <a:ext cx="3007816" cy="514350"/>
          </a:xfrm>
          <a:prstGeom prst="rect">
            <a:avLst/>
          </a:prstGeom>
          <a:noFill/>
          <a:ln>
            <a:noFill/>
          </a:ln>
        </p:spPr>
      </p:pic>
      <p:pic>
        <p:nvPicPr>
          <p:cNvPr descr="preencoded.png" id="76" name="Google Shape;76;p5"/>
          <p:cNvPicPr preferRelativeResize="0"/>
          <p:nvPr/>
        </p:nvPicPr>
        <p:blipFill rotWithShape="1">
          <a:blip r:embed="rId6">
            <a:alphaModFix/>
          </a:blip>
          <a:srcRect b="0" l="0" r="0" t="0"/>
          <a:stretch/>
        </p:blipFill>
        <p:spPr>
          <a:xfrm>
            <a:off x="5795070" y="1569959"/>
            <a:ext cx="3007816" cy="514350"/>
          </a:xfrm>
          <a:prstGeom prst="rect">
            <a:avLst/>
          </a:prstGeom>
          <a:noFill/>
          <a:ln>
            <a:noFill/>
          </a:ln>
        </p:spPr>
      </p:pic>
      <p:pic>
        <p:nvPicPr>
          <p:cNvPr descr="preencoded.png" id="77" name="Google Shape;77;p5"/>
          <p:cNvPicPr preferRelativeResize="0"/>
          <p:nvPr/>
        </p:nvPicPr>
        <p:blipFill rotWithShape="1">
          <a:blip r:embed="rId6">
            <a:alphaModFix/>
          </a:blip>
          <a:srcRect b="0" l="0" r="0" t="0"/>
          <a:stretch/>
        </p:blipFill>
        <p:spPr>
          <a:xfrm>
            <a:off x="8802886" y="1569959"/>
            <a:ext cx="3008114" cy="514350"/>
          </a:xfrm>
          <a:prstGeom prst="rect">
            <a:avLst/>
          </a:prstGeom>
          <a:noFill/>
          <a:ln>
            <a:noFill/>
          </a:ln>
        </p:spPr>
      </p:pic>
      <p:pic>
        <p:nvPicPr>
          <p:cNvPr descr="preencoded.png" id="78" name="Google Shape;78;p5"/>
          <p:cNvPicPr preferRelativeResize="0"/>
          <p:nvPr/>
        </p:nvPicPr>
        <p:blipFill rotWithShape="1">
          <a:blip r:embed="rId7">
            <a:alphaModFix/>
          </a:blip>
          <a:srcRect b="0" l="0" r="0" t="0"/>
          <a:stretch/>
        </p:blipFill>
        <p:spPr>
          <a:xfrm>
            <a:off x="381000" y="2084309"/>
            <a:ext cx="11430000" cy="457200"/>
          </a:xfrm>
          <a:prstGeom prst="rect">
            <a:avLst/>
          </a:prstGeom>
          <a:noFill/>
          <a:ln>
            <a:noFill/>
          </a:ln>
        </p:spPr>
      </p:pic>
      <p:pic>
        <p:nvPicPr>
          <p:cNvPr descr="preencoded.png" id="79" name="Google Shape;79;p5"/>
          <p:cNvPicPr preferRelativeResize="0"/>
          <p:nvPr/>
        </p:nvPicPr>
        <p:blipFill rotWithShape="1">
          <a:blip r:embed="rId8">
            <a:alphaModFix/>
          </a:blip>
          <a:srcRect b="0" l="0" r="0" t="0"/>
          <a:stretch/>
        </p:blipFill>
        <p:spPr>
          <a:xfrm>
            <a:off x="381000" y="2084309"/>
            <a:ext cx="2406253" cy="457200"/>
          </a:xfrm>
          <a:prstGeom prst="rect">
            <a:avLst/>
          </a:prstGeom>
          <a:noFill/>
          <a:ln>
            <a:noFill/>
          </a:ln>
        </p:spPr>
      </p:pic>
      <p:pic>
        <p:nvPicPr>
          <p:cNvPr descr="preencoded.png" id="80" name="Google Shape;80;p5"/>
          <p:cNvPicPr preferRelativeResize="0"/>
          <p:nvPr/>
        </p:nvPicPr>
        <p:blipFill rotWithShape="1">
          <a:blip r:embed="rId9">
            <a:alphaModFix/>
          </a:blip>
          <a:srcRect b="0" l="0" r="0" t="0"/>
          <a:stretch/>
        </p:blipFill>
        <p:spPr>
          <a:xfrm>
            <a:off x="2787253" y="2084309"/>
            <a:ext cx="3007816" cy="457200"/>
          </a:xfrm>
          <a:prstGeom prst="rect">
            <a:avLst/>
          </a:prstGeom>
          <a:noFill/>
          <a:ln>
            <a:noFill/>
          </a:ln>
        </p:spPr>
      </p:pic>
      <p:pic>
        <p:nvPicPr>
          <p:cNvPr descr="preencoded.png" id="81" name="Google Shape;81;p5"/>
          <p:cNvPicPr preferRelativeResize="0"/>
          <p:nvPr/>
        </p:nvPicPr>
        <p:blipFill rotWithShape="1">
          <a:blip r:embed="rId10">
            <a:alphaModFix/>
          </a:blip>
          <a:srcRect b="0" l="0" r="0" t="0"/>
          <a:stretch/>
        </p:blipFill>
        <p:spPr>
          <a:xfrm>
            <a:off x="5795070" y="2084309"/>
            <a:ext cx="3007816" cy="457200"/>
          </a:xfrm>
          <a:prstGeom prst="rect">
            <a:avLst/>
          </a:prstGeom>
          <a:noFill/>
          <a:ln>
            <a:noFill/>
          </a:ln>
        </p:spPr>
      </p:pic>
      <p:pic>
        <p:nvPicPr>
          <p:cNvPr descr="preencoded.png" id="82" name="Google Shape;82;p5"/>
          <p:cNvPicPr preferRelativeResize="0"/>
          <p:nvPr/>
        </p:nvPicPr>
        <p:blipFill rotWithShape="1">
          <a:blip r:embed="rId10">
            <a:alphaModFix/>
          </a:blip>
          <a:srcRect b="0" l="0" r="0" t="0"/>
          <a:stretch/>
        </p:blipFill>
        <p:spPr>
          <a:xfrm>
            <a:off x="8802886" y="2084309"/>
            <a:ext cx="3008114" cy="457200"/>
          </a:xfrm>
          <a:prstGeom prst="rect">
            <a:avLst/>
          </a:prstGeom>
          <a:noFill/>
          <a:ln>
            <a:noFill/>
          </a:ln>
        </p:spPr>
      </p:pic>
      <p:pic>
        <p:nvPicPr>
          <p:cNvPr descr="preencoded.png" id="83" name="Google Shape;83;p5"/>
          <p:cNvPicPr preferRelativeResize="0"/>
          <p:nvPr/>
        </p:nvPicPr>
        <p:blipFill rotWithShape="1">
          <a:blip r:embed="rId11">
            <a:alphaModFix/>
          </a:blip>
          <a:srcRect b="0" l="0" r="0" t="0"/>
          <a:stretch/>
        </p:blipFill>
        <p:spPr>
          <a:xfrm>
            <a:off x="381000" y="2541509"/>
            <a:ext cx="11430000" cy="457200"/>
          </a:xfrm>
          <a:prstGeom prst="rect">
            <a:avLst/>
          </a:prstGeom>
          <a:noFill/>
          <a:ln>
            <a:noFill/>
          </a:ln>
        </p:spPr>
      </p:pic>
      <p:pic>
        <p:nvPicPr>
          <p:cNvPr descr="preencoded.png" id="84" name="Google Shape;84;p5"/>
          <p:cNvPicPr preferRelativeResize="0"/>
          <p:nvPr/>
        </p:nvPicPr>
        <p:blipFill rotWithShape="1">
          <a:blip r:embed="rId8">
            <a:alphaModFix/>
          </a:blip>
          <a:srcRect b="0" l="0" r="0" t="0"/>
          <a:stretch/>
        </p:blipFill>
        <p:spPr>
          <a:xfrm>
            <a:off x="381000" y="2541509"/>
            <a:ext cx="2406253" cy="457200"/>
          </a:xfrm>
          <a:prstGeom prst="rect">
            <a:avLst/>
          </a:prstGeom>
          <a:noFill/>
          <a:ln>
            <a:noFill/>
          </a:ln>
        </p:spPr>
      </p:pic>
      <p:pic>
        <p:nvPicPr>
          <p:cNvPr descr="preencoded.png" id="85" name="Google Shape;85;p5"/>
          <p:cNvPicPr preferRelativeResize="0"/>
          <p:nvPr/>
        </p:nvPicPr>
        <p:blipFill rotWithShape="1">
          <a:blip r:embed="rId9">
            <a:alphaModFix/>
          </a:blip>
          <a:srcRect b="0" l="0" r="0" t="0"/>
          <a:stretch/>
        </p:blipFill>
        <p:spPr>
          <a:xfrm>
            <a:off x="2787253" y="2541509"/>
            <a:ext cx="3007816" cy="457200"/>
          </a:xfrm>
          <a:prstGeom prst="rect">
            <a:avLst/>
          </a:prstGeom>
          <a:noFill/>
          <a:ln>
            <a:noFill/>
          </a:ln>
        </p:spPr>
      </p:pic>
      <p:pic>
        <p:nvPicPr>
          <p:cNvPr descr="preencoded.png" id="86" name="Google Shape;86;p5"/>
          <p:cNvPicPr preferRelativeResize="0"/>
          <p:nvPr/>
        </p:nvPicPr>
        <p:blipFill rotWithShape="1">
          <a:blip r:embed="rId10">
            <a:alphaModFix/>
          </a:blip>
          <a:srcRect b="0" l="0" r="0" t="0"/>
          <a:stretch/>
        </p:blipFill>
        <p:spPr>
          <a:xfrm>
            <a:off x="5795070" y="2541509"/>
            <a:ext cx="3007816" cy="457200"/>
          </a:xfrm>
          <a:prstGeom prst="rect">
            <a:avLst/>
          </a:prstGeom>
          <a:noFill/>
          <a:ln>
            <a:noFill/>
          </a:ln>
        </p:spPr>
      </p:pic>
      <p:pic>
        <p:nvPicPr>
          <p:cNvPr descr="preencoded.png" id="87" name="Google Shape;87;p5"/>
          <p:cNvPicPr preferRelativeResize="0"/>
          <p:nvPr/>
        </p:nvPicPr>
        <p:blipFill rotWithShape="1">
          <a:blip r:embed="rId10">
            <a:alphaModFix/>
          </a:blip>
          <a:srcRect b="0" l="0" r="0" t="0"/>
          <a:stretch/>
        </p:blipFill>
        <p:spPr>
          <a:xfrm>
            <a:off x="8802886" y="2541509"/>
            <a:ext cx="3008114" cy="457200"/>
          </a:xfrm>
          <a:prstGeom prst="rect">
            <a:avLst/>
          </a:prstGeom>
          <a:noFill/>
          <a:ln>
            <a:noFill/>
          </a:ln>
        </p:spPr>
      </p:pic>
      <p:pic>
        <p:nvPicPr>
          <p:cNvPr descr="preencoded.png" id="88" name="Google Shape;88;p5"/>
          <p:cNvPicPr preferRelativeResize="0"/>
          <p:nvPr/>
        </p:nvPicPr>
        <p:blipFill rotWithShape="1">
          <a:blip r:embed="rId12">
            <a:alphaModFix/>
          </a:blip>
          <a:srcRect b="0" l="0" r="0" t="0"/>
          <a:stretch/>
        </p:blipFill>
        <p:spPr>
          <a:xfrm>
            <a:off x="381000" y="2998709"/>
            <a:ext cx="11430000" cy="457200"/>
          </a:xfrm>
          <a:prstGeom prst="rect">
            <a:avLst/>
          </a:prstGeom>
          <a:noFill/>
          <a:ln>
            <a:noFill/>
          </a:ln>
        </p:spPr>
      </p:pic>
      <p:pic>
        <p:nvPicPr>
          <p:cNvPr descr="preencoded.png" id="89" name="Google Shape;89;p5"/>
          <p:cNvPicPr preferRelativeResize="0"/>
          <p:nvPr/>
        </p:nvPicPr>
        <p:blipFill rotWithShape="1">
          <a:blip r:embed="rId8">
            <a:alphaModFix/>
          </a:blip>
          <a:srcRect b="0" l="0" r="0" t="0"/>
          <a:stretch/>
        </p:blipFill>
        <p:spPr>
          <a:xfrm>
            <a:off x="381000" y="2998709"/>
            <a:ext cx="2406253" cy="457200"/>
          </a:xfrm>
          <a:prstGeom prst="rect">
            <a:avLst/>
          </a:prstGeom>
          <a:noFill/>
          <a:ln>
            <a:noFill/>
          </a:ln>
        </p:spPr>
      </p:pic>
      <p:pic>
        <p:nvPicPr>
          <p:cNvPr descr="preencoded.png" id="90" name="Google Shape;90;p5"/>
          <p:cNvPicPr preferRelativeResize="0"/>
          <p:nvPr/>
        </p:nvPicPr>
        <p:blipFill rotWithShape="1">
          <a:blip r:embed="rId9">
            <a:alphaModFix/>
          </a:blip>
          <a:srcRect b="0" l="0" r="0" t="0"/>
          <a:stretch/>
        </p:blipFill>
        <p:spPr>
          <a:xfrm>
            <a:off x="2787253" y="2998709"/>
            <a:ext cx="3007816" cy="457200"/>
          </a:xfrm>
          <a:prstGeom prst="rect">
            <a:avLst/>
          </a:prstGeom>
          <a:noFill/>
          <a:ln>
            <a:noFill/>
          </a:ln>
        </p:spPr>
      </p:pic>
      <p:pic>
        <p:nvPicPr>
          <p:cNvPr descr="preencoded.png" id="91" name="Google Shape;91;p5"/>
          <p:cNvPicPr preferRelativeResize="0"/>
          <p:nvPr/>
        </p:nvPicPr>
        <p:blipFill rotWithShape="1">
          <a:blip r:embed="rId10">
            <a:alphaModFix/>
          </a:blip>
          <a:srcRect b="0" l="0" r="0" t="0"/>
          <a:stretch/>
        </p:blipFill>
        <p:spPr>
          <a:xfrm>
            <a:off x="5795070" y="2998709"/>
            <a:ext cx="3007816" cy="457200"/>
          </a:xfrm>
          <a:prstGeom prst="rect">
            <a:avLst/>
          </a:prstGeom>
          <a:noFill/>
          <a:ln>
            <a:noFill/>
          </a:ln>
        </p:spPr>
      </p:pic>
      <p:pic>
        <p:nvPicPr>
          <p:cNvPr descr="preencoded.png" id="92" name="Google Shape;92;p5"/>
          <p:cNvPicPr preferRelativeResize="0"/>
          <p:nvPr/>
        </p:nvPicPr>
        <p:blipFill rotWithShape="1">
          <a:blip r:embed="rId10">
            <a:alphaModFix/>
          </a:blip>
          <a:srcRect b="0" l="0" r="0" t="0"/>
          <a:stretch/>
        </p:blipFill>
        <p:spPr>
          <a:xfrm>
            <a:off x="8802886" y="2998709"/>
            <a:ext cx="3008114" cy="457200"/>
          </a:xfrm>
          <a:prstGeom prst="rect">
            <a:avLst/>
          </a:prstGeom>
          <a:noFill/>
          <a:ln>
            <a:noFill/>
          </a:ln>
        </p:spPr>
      </p:pic>
      <p:pic>
        <p:nvPicPr>
          <p:cNvPr descr="preencoded.png" id="93" name="Google Shape;93;p5"/>
          <p:cNvPicPr preferRelativeResize="0"/>
          <p:nvPr/>
        </p:nvPicPr>
        <p:blipFill rotWithShape="1">
          <a:blip r:embed="rId11">
            <a:alphaModFix/>
          </a:blip>
          <a:srcRect b="0" l="0" r="0" t="0"/>
          <a:stretch/>
        </p:blipFill>
        <p:spPr>
          <a:xfrm>
            <a:off x="381000" y="3455909"/>
            <a:ext cx="11430000" cy="457200"/>
          </a:xfrm>
          <a:prstGeom prst="rect">
            <a:avLst/>
          </a:prstGeom>
          <a:noFill/>
          <a:ln>
            <a:noFill/>
          </a:ln>
        </p:spPr>
      </p:pic>
      <p:pic>
        <p:nvPicPr>
          <p:cNvPr descr="preencoded.png" id="94" name="Google Shape;94;p5"/>
          <p:cNvPicPr preferRelativeResize="0"/>
          <p:nvPr/>
        </p:nvPicPr>
        <p:blipFill rotWithShape="1">
          <a:blip r:embed="rId8">
            <a:alphaModFix/>
          </a:blip>
          <a:srcRect b="0" l="0" r="0" t="0"/>
          <a:stretch/>
        </p:blipFill>
        <p:spPr>
          <a:xfrm>
            <a:off x="381000" y="3455909"/>
            <a:ext cx="2406254" cy="457200"/>
          </a:xfrm>
          <a:prstGeom prst="rect">
            <a:avLst/>
          </a:prstGeom>
          <a:noFill/>
          <a:ln>
            <a:noFill/>
          </a:ln>
        </p:spPr>
      </p:pic>
      <p:pic>
        <p:nvPicPr>
          <p:cNvPr descr="preencoded.png" id="95" name="Google Shape;95;p5"/>
          <p:cNvPicPr preferRelativeResize="0"/>
          <p:nvPr/>
        </p:nvPicPr>
        <p:blipFill rotWithShape="1">
          <a:blip r:embed="rId9">
            <a:alphaModFix/>
          </a:blip>
          <a:srcRect b="0" l="0" r="0" t="0"/>
          <a:stretch/>
        </p:blipFill>
        <p:spPr>
          <a:xfrm>
            <a:off x="2787253" y="3455909"/>
            <a:ext cx="3007816" cy="457200"/>
          </a:xfrm>
          <a:prstGeom prst="rect">
            <a:avLst/>
          </a:prstGeom>
          <a:noFill/>
          <a:ln>
            <a:noFill/>
          </a:ln>
        </p:spPr>
      </p:pic>
      <p:pic>
        <p:nvPicPr>
          <p:cNvPr descr="preencoded.png" id="96" name="Google Shape;96;p5"/>
          <p:cNvPicPr preferRelativeResize="0"/>
          <p:nvPr/>
        </p:nvPicPr>
        <p:blipFill rotWithShape="1">
          <a:blip r:embed="rId10">
            <a:alphaModFix/>
          </a:blip>
          <a:srcRect b="0" l="0" r="0" t="0"/>
          <a:stretch/>
        </p:blipFill>
        <p:spPr>
          <a:xfrm>
            <a:off x="5795070" y="3455909"/>
            <a:ext cx="3007816" cy="457200"/>
          </a:xfrm>
          <a:prstGeom prst="rect">
            <a:avLst/>
          </a:prstGeom>
          <a:noFill/>
          <a:ln>
            <a:noFill/>
          </a:ln>
        </p:spPr>
      </p:pic>
      <p:pic>
        <p:nvPicPr>
          <p:cNvPr descr="preencoded.png" id="97" name="Google Shape;97;p5"/>
          <p:cNvPicPr preferRelativeResize="0"/>
          <p:nvPr/>
        </p:nvPicPr>
        <p:blipFill rotWithShape="1">
          <a:blip r:embed="rId10">
            <a:alphaModFix/>
          </a:blip>
          <a:srcRect b="0" l="0" r="0" t="0"/>
          <a:stretch/>
        </p:blipFill>
        <p:spPr>
          <a:xfrm>
            <a:off x="8802886" y="3455909"/>
            <a:ext cx="3008114" cy="457200"/>
          </a:xfrm>
          <a:prstGeom prst="rect">
            <a:avLst/>
          </a:prstGeom>
          <a:noFill/>
          <a:ln>
            <a:noFill/>
          </a:ln>
        </p:spPr>
      </p:pic>
      <p:pic>
        <p:nvPicPr>
          <p:cNvPr descr="preencoded.png" id="98" name="Google Shape;98;p5"/>
          <p:cNvPicPr preferRelativeResize="0"/>
          <p:nvPr/>
        </p:nvPicPr>
        <p:blipFill rotWithShape="1">
          <a:blip r:embed="rId13">
            <a:alphaModFix/>
          </a:blip>
          <a:srcRect b="0" l="0" r="0" t="0"/>
          <a:stretch/>
        </p:blipFill>
        <p:spPr>
          <a:xfrm>
            <a:off x="381000" y="4256009"/>
            <a:ext cx="219075" cy="190500"/>
          </a:xfrm>
          <a:prstGeom prst="rect">
            <a:avLst/>
          </a:prstGeom>
          <a:noFill/>
          <a:ln>
            <a:noFill/>
          </a:ln>
        </p:spPr>
      </p:pic>
      <p:sp>
        <p:nvSpPr>
          <p:cNvPr id="99" name="Google Shape;99;p5"/>
          <p:cNvSpPr/>
          <p:nvPr/>
        </p:nvSpPr>
        <p:spPr>
          <a:xfrm>
            <a:off x="381000" y="209550"/>
            <a:ext cx="758952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Competitive Analysis</a:t>
            </a:r>
            <a:endParaRPr sz="2250">
              <a:solidFill>
                <a:schemeClr val="dk1"/>
              </a:solidFill>
              <a:latin typeface="Calibri"/>
              <a:ea typeface="Calibri"/>
              <a:cs typeface="Calibri"/>
              <a:sym typeface="Calibri"/>
            </a:endParaRPr>
          </a:p>
        </p:txBody>
      </p:sp>
      <p:sp>
        <p:nvSpPr>
          <p:cNvPr id="100" name="Google Shape;100;p5"/>
          <p:cNvSpPr/>
          <p:nvPr/>
        </p:nvSpPr>
        <p:spPr>
          <a:xfrm>
            <a:off x="381000" y="952500"/>
            <a:ext cx="8781854" cy="3429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t/>
            </a:r>
            <a:endParaRPr b="1" sz="1400">
              <a:solidFill>
                <a:srgbClr val="FF0000"/>
              </a:solidFill>
              <a:latin typeface="Calibri"/>
              <a:ea typeface="Calibri"/>
              <a:cs typeface="Calibri"/>
              <a:sym typeface="Calibri"/>
            </a:endParaRPr>
          </a:p>
        </p:txBody>
      </p:sp>
      <p:sp>
        <p:nvSpPr>
          <p:cNvPr id="101" name="Google Shape;101;p5"/>
          <p:cNvSpPr/>
          <p:nvPr/>
        </p:nvSpPr>
        <p:spPr>
          <a:xfrm>
            <a:off x="381000" y="1569959"/>
            <a:ext cx="2406253" cy="51435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Feature</a:t>
            </a:r>
            <a:endParaRPr sz="1200">
              <a:solidFill>
                <a:schemeClr val="dk1"/>
              </a:solidFill>
              <a:latin typeface="Calibri"/>
              <a:ea typeface="Calibri"/>
              <a:cs typeface="Calibri"/>
              <a:sym typeface="Calibri"/>
            </a:endParaRPr>
          </a:p>
        </p:txBody>
      </p:sp>
      <p:sp>
        <p:nvSpPr>
          <p:cNvPr id="102" name="Google Shape;102;p5"/>
          <p:cNvSpPr/>
          <p:nvPr/>
        </p:nvSpPr>
        <p:spPr>
          <a:xfrm>
            <a:off x="2787253" y="1569959"/>
            <a:ext cx="3007800" cy="5145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Your Solution</a:t>
            </a:r>
            <a:endParaRPr sz="1200">
              <a:solidFill>
                <a:schemeClr val="dk1"/>
              </a:solidFill>
              <a:latin typeface="Calibri"/>
              <a:ea typeface="Calibri"/>
              <a:cs typeface="Calibri"/>
              <a:sym typeface="Calibri"/>
            </a:endParaRPr>
          </a:p>
        </p:txBody>
      </p:sp>
      <p:sp>
        <p:nvSpPr>
          <p:cNvPr id="103" name="Google Shape;103;p5"/>
          <p:cNvSpPr/>
          <p:nvPr/>
        </p:nvSpPr>
        <p:spPr>
          <a:xfrm>
            <a:off x="5795070" y="1569959"/>
            <a:ext cx="3007816" cy="51435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Competitor A</a:t>
            </a:r>
            <a:endParaRPr sz="1200">
              <a:solidFill>
                <a:schemeClr val="dk1"/>
              </a:solidFill>
              <a:latin typeface="Calibri"/>
              <a:ea typeface="Calibri"/>
              <a:cs typeface="Calibri"/>
              <a:sym typeface="Calibri"/>
            </a:endParaRPr>
          </a:p>
        </p:txBody>
      </p:sp>
      <p:sp>
        <p:nvSpPr>
          <p:cNvPr id="104" name="Google Shape;104;p5"/>
          <p:cNvSpPr/>
          <p:nvPr/>
        </p:nvSpPr>
        <p:spPr>
          <a:xfrm>
            <a:off x="8802886" y="1569959"/>
            <a:ext cx="3008114" cy="51435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Competitor B</a:t>
            </a:r>
            <a:endParaRPr sz="1200">
              <a:solidFill>
                <a:schemeClr val="dk1"/>
              </a:solidFill>
              <a:latin typeface="Calibri"/>
              <a:ea typeface="Calibri"/>
              <a:cs typeface="Calibri"/>
              <a:sym typeface="Calibri"/>
            </a:endParaRPr>
          </a:p>
        </p:txBody>
      </p:sp>
      <p:sp>
        <p:nvSpPr>
          <p:cNvPr id="105" name="Google Shape;105;p5"/>
          <p:cNvSpPr/>
          <p:nvPr/>
        </p:nvSpPr>
        <p:spPr>
          <a:xfrm>
            <a:off x="523875" y="2084296"/>
            <a:ext cx="2887500" cy="617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Core Technology</a:t>
            </a:r>
            <a:endParaRPr sz="1200">
              <a:solidFill>
                <a:schemeClr val="dk1"/>
              </a:solidFill>
              <a:latin typeface="Calibri"/>
              <a:ea typeface="Calibri"/>
              <a:cs typeface="Calibri"/>
              <a:sym typeface="Calibri"/>
            </a:endParaRPr>
          </a:p>
        </p:txBody>
      </p:sp>
      <p:sp>
        <p:nvSpPr>
          <p:cNvPr id="106" name="Google Shape;106;p5"/>
          <p:cNvSpPr/>
          <p:nvPr/>
        </p:nvSpPr>
        <p:spPr>
          <a:xfrm>
            <a:off x="2930125" y="2084300"/>
            <a:ext cx="32829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chemeClr val="dk1"/>
                </a:solidFill>
                <a:latin typeface="Calibri"/>
                <a:ea typeface="Calibri"/>
                <a:cs typeface="Calibri"/>
                <a:sym typeface="Calibri"/>
              </a:rPr>
              <a:t>AI-driven stateful honeypot with persistent sandboxed OS for realistic SSH/HTTP .</a:t>
            </a:r>
            <a:endParaRPr sz="1200">
              <a:solidFill>
                <a:schemeClr val="dk1"/>
              </a:solidFill>
              <a:latin typeface="Calibri"/>
              <a:ea typeface="Calibri"/>
              <a:cs typeface="Calibri"/>
              <a:sym typeface="Calibri"/>
            </a:endParaRPr>
          </a:p>
        </p:txBody>
      </p:sp>
      <p:sp>
        <p:nvSpPr>
          <p:cNvPr id="107" name="Google Shape;107;p5"/>
          <p:cNvSpPr/>
          <p:nvPr/>
        </p:nvSpPr>
        <p:spPr>
          <a:xfrm>
            <a:off x="5937945" y="2084309"/>
            <a:ext cx="3007816"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t>Python-based SSH/Telnet honeypot with static emulation and basic logging.</a:t>
            </a:r>
            <a:endParaRPr sz="1200">
              <a:solidFill>
                <a:schemeClr val="dk1"/>
              </a:solidFill>
              <a:latin typeface="Calibri"/>
              <a:ea typeface="Calibri"/>
              <a:cs typeface="Calibri"/>
              <a:sym typeface="Calibri"/>
            </a:endParaRPr>
          </a:p>
        </p:txBody>
      </p:sp>
      <p:sp>
        <p:nvSpPr>
          <p:cNvPr id="108" name="Google Shape;108;p5"/>
          <p:cNvSpPr/>
          <p:nvPr/>
        </p:nvSpPr>
        <p:spPr>
          <a:xfrm>
            <a:off x="8945761" y="2084309"/>
            <a:ext cx="30081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t>Modular honeypot framework with low-code config, multi-protocol support.</a:t>
            </a:r>
            <a:endParaRPr sz="1200">
              <a:solidFill>
                <a:schemeClr val="dk1"/>
              </a:solidFill>
              <a:latin typeface="Calibri"/>
              <a:ea typeface="Calibri"/>
              <a:cs typeface="Calibri"/>
              <a:sym typeface="Calibri"/>
            </a:endParaRPr>
          </a:p>
        </p:txBody>
      </p:sp>
      <p:sp>
        <p:nvSpPr>
          <p:cNvPr id="109" name="Google Shape;109;p5"/>
          <p:cNvSpPr/>
          <p:nvPr/>
        </p:nvSpPr>
        <p:spPr>
          <a:xfrm>
            <a:off x="523875" y="2541487"/>
            <a:ext cx="2887500" cy="1177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User Experience</a:t>
            </a:r>
            <a:endParaRPr sz="1200">
              <a:solidFill>
                <a:schemeClr val="dk1"/>
              </a:solidFill>
              <a:latin typeface="Calibri"/>
              <a:ea typeface="Calibri"/>
              <a:cs typeface="Calibri"/>
              <a:sym typeface="Calibri"/>
            </a:endParaRPr>
          </a:p>
        </p:txBody>
      </p:sp>
      <p:sp>
        <p:nvSpPr>
          <p:cNvPr id="110" name="Google Shape;110;p5"/>
          <p:cNvSpPr/>
          <p:nvPr/>
        </p:nvSpPr>
        <p:spPr>
          <a:xfrm>
            <a:off x="2930125" y="2541500"/>
            <a:ext cx="28875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lang="en-US" sz="1100"/>
              <a:t>Live dashboard with session monitoring, IOC summaries, and ATT&amp;CK heatmaps for SOC analysts.</a:t>
            </a:r>
            <a:endParaRPr sz="1100">
              <a:solidFill>
                <a:schemeClr val="dk1"/>
              </a:solidFill>
              <a:latin typeface="Calibri"/>
              <a:ea typeface="Calibri"/>
              <a:cs typeface="Calibri"/>
              <a:sym typeface="Calibri"/>
            </a:endParaRPr>
          </a:p>
        </p:txBody>
      </p:sp>
      <p:sp>
        <p:nvSpPr>
          <p:cNvPr id="111" name="Google Shape;111;p5"/>
          <p:cNvSpPr/>
          <p:nvPr/>
        </p:nvSpPr>
        <p:spPr>
          <a:xfrm>
            <a:off x="5937945" y="2541509"/>
            <a:ext cx="3007816"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t>CLI‑heavy setup with minimal usability and no UI.</a:t>
            </a:r>
            <a:endParaRPr sz="1200">
              <a:solidFill>
                <a:schemeClr val="dk1"/>
              </a:solidFill>
              <a:latin typeface="Calibri"/>
              <a:ea typeface="Calibri"/>
              <a:cs typeface="Calibri"/>
              <a:sym typeface="Calibri"/>
            </a:endParaRPr>
          </a:p>
        </p:txBody>
      </p:sp>
      <p:sp>
        <p:nvSpPr>
          <p:cNvPr id="112" name="Google Shape;112;p5"/>
          <p:cNvSpPr/>
          <p:nvPr/>
        </p:nvSpPr>
        <p:spPr>
          <a:xfrm>
            <a:off x="8945761" y="2541509"/>
            <a:ext cx="3008114"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t>Simplified setup with Docker, YAML configs, and basic observability dashboards.</a:t>
            </a:r>
            <a:endParaRPr sz="1200">
              <a:solidFill>
                <a:schemeClr val="dk1"/>
              </a:solidFill>
              <a:latin typeface="Calibri"/>
              <a:ea typeface="Calibri"/>
              <a:cs typeface="Calibri"/>
              <a:sym typeface="Calibri"/>
            </a:endParaRPr>
          </a:p>
        </p:txBody>
      </p:sp>
      <p:sp>
        <p:nvSpPr>
          <p:cNvPr id="113" name="Google Shape;113;p5"/>
          <p:cNvSpPr/>
          <p:nvPr/>
        </p:nvSpPr>
        <p:spPr>
          <a:xfrm>
            <a:off x="523875" y="2998709"/>
            <a:ext cx="2887504"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Integration Capability</a:t>
            </a:r>
            <a:endParaRPr sz="1200">
              <a:solidFill>
                <a:schemeClr val="dk1"/>
              </a:solidFill>
              <a:latin typeface="Calibri"/>
              <a:ea typeface="Calibri"/>
              <a:cs typeface="Calibri"/>
              <a:sym typeface="Calibri"/>
            </a:endParaRPr>
          </a:p>
        </p:txBody>
      </p:sp>
      <p:sp>
        <p:nvSpPr>
          <p:cNvPr id="114" name="Google Shape;114;p5"/>
          <p:cNvSpPr/>
          <p:nvPr/>
        </p:nvSpPr>
        <p:spPr>
          <a:xfrm>
            <a:off x="2906575" y="3033800"/>
            <a:ext cx="305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lang="en-US" sz="1100"/>
              <a:t>Built-in IOC extraction + MITRE ATT&amp;CK mapping, real time dashboard.</a:t>
            </a:r>
            <a:endParaRPr sz="1100">
              <a:solidFill>
                <a:schemeClr val="dk1"/>
              </a:solidFill>
              <a:latin typeface="Calibri"/>
              <a:ea typeface="Calibri"/>
              <a:cs typeface="Calibri"/>
              <a:sym typeface="Calibri"/>
            </a:endParaRPr>
          </a:p>
        </p:txBody>
      </p:sp>
      <p:sp>
        <p:nvSpPr>
          <p:cNvPr id="115" name="Google Shape;115;p5"/>
          <p:cNvSpPr/>
          <p:nvPr/>
        </p:nvSpPr>
        <p:spPr>
          <a:xfrm>
            <a:off x="5937945" y="2998709"/>
            <a:ext cx="3007816"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t>Simple JSON logs with limited external integrations.</a:t>
            </a:r>
            <a:endParaRPr sz="1200">
              <a:solidFill>
                <a:schemeClr val="dk1"/>
              </a:solidFill>
              <a:latin typeface="Calibri"/>
              <a:ea typeface="Calibri"/>
              <a:cs typeface="Calibri"/>
              <a:sym typeface="Calibri"/>
            </a:endParaRPr>
          </a:p>
        </p:txBody>
      </p:sp>
      <p:sp>
        <p:nvSpPr>
          <p:cNvPr id="116" name="Google Shape;116;p5"/>
          <p:cNvSpPr/>
          <p:nvPr/>
        </p:nvSpPr>
        <p:spPr>
          <a:xfrm>
            <a:off x="8945761" y="2998709"/>
            <a:ext cx="3008114"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solidFill>
                  <a:schemeClr val="dk1"/>
                </a:solidFill>
                <a:latin typeface="Calibri"/>
                <a:ea typeface="Calibri"/>
                <a:cs typeface="Calibri"/>
                <a:sym typeface="Calibri"/>
              </a:rPr>
              <a:t>Can connect to monitoring and logging tools.</a:t>
            </a:r>
            <a:endParaRPr sz="1200">
              <a:solidFill>
                <a:schemeClr val="dk1"/>
              </a:solidFill>
              <a:latin typeface="Calibri"/>
              <a:ea typeface="Calibri"/>
              <a:cs typeface="Calibri"/>
              <a:sym typeface="Calibri"/>
            </a:endParaRPr>
          </a:p>
        </p:txBody>
      </p:sp>
      <p:sp>
        <p:nvSpPr>
          <p:cNvPr id="117" name="Google Shape;117;p5"/>
          <p:cNvSpPr/>
          <p:nvPr/>
        </p:nvSpPr>
        <p:spPr>
          <a:xfrm>
            <a:off x="523875" y="3455909"/>
            <a:ext cx="2887500"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Cost Structure</a:t>
            </a:r>
            <a:endParaRPr sz="1200">
              <a:solidFill>
                <a:schemeClr val="dk1"/>
              </a:solidFill>
              <a:latin typeface="Calibri"/>
              <a:ea typeface="Calibri"/>
              <a:cs typeface="Calibri"/>
              <a:sym typeface="Calibri"/>
            </a:endParaRPr>
          </a:p>
        </p:txBody>
      </p:sp>
      <p:sp>
        <p:nvSpPr>
          <p:cNvPr id="118" name="Google Shape;118;p5"/>
          <p:cNvSpPr/>
          <p:nvPr/>
        </p:nvSpPr>
        <p:spPr>
          <a:xfrm>
            <a:off x="2930125" y="3455897"/>
            <a:ext cx="3007800" cy="617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t>Subscription-based, no setup or API key required.</a:t>
            </a:r>
            <a:endParaRPr sz="1200"/>
          </a:p>
        </p:txBody>
      </p:sp>
      <p:sp>
        <p:nvSpPr>
          <p:cNvPr id="119" name="Google Shape;119;p5"/>
          <p:cNvSpPr/>
          <p:nvPr/>
        </p:nvSpPr>
        <p:spPr>
          <a:xfrm>
            <a:off x="5937945" y="3455909"/>
            <a:ext cx="3007816"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t>Fully free open‑source but requires manual maintenance.</a:t>
            </a:r>
            <a:endParaRPr sz="1200">
              <a:solidFill>
                <a:schemeClr val="dk1"/>
              </a:solidFill>
              <a:latin typeface="Calibri"/>
              <a:ea typeface="Calibri"/>
              <a:cs typeface="Calibri"/>
              <a:sym typeface="Calibri"/>
            </a:endParaRPr>
          </a:p>
        </p:txBody>
      </p:sp>
      <p:sp>
        <p:nvSpPr>
          <p:cNvPr id="120" name="Google Shape;120;p5"/>
          <p:cNvSpPr/>
          <p:nvPr/>
        </p:nvSpPr>
        <p:spPr>
          <a:xfrm>
            <a:off x="8945761" y="3455909"/>
            <a:ext cx="3008114" cy="457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lang="en-US" sz="1200"/>
              <a:t>Open-source (GPLv3) with low setup cost, mainly infrastructure and maintenance.</a:t>
            </a:r>
            <a:endParaRPr sz="1200">
              <a:solidFill>
                <a:schemeClr val="dk1"/>
              </a:solidFill>
              <a:latin typeface="Calibri"/>
              <a:ea typeface="Calibri"/>
              <a:cs typeface="Calibri"/>
              <a:sym typeface="Calibri"/>
            </a:endParaRPr>
          </a:p>
        </p:txBody>
      </p:sp>
      <p:sp>
        <p:nvSpPr>
          <p:cNvPr id="121" name="Google Shape;121;p5"/>
          <p:cNvSpPr/>
          <p:nvPr/>
        </p:nvSpPr>
        <p:spPr>
          <a:xfrm>
            <a:off x="676275" y="4217909"/>
            <a:ext cx="11430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Key Differentiators</a:t>
            </a:r>
            <a:endParaRPr sz="1500">
              <a:solidFill>
                <a:schemeClr val="dk1"/>
              </a:solidFill>
              <a:latin typeface="Calibri"/>
              <a:ea typeface="Calibri"/>
              <a:cs typeface="Calibri"/>
              <a:sym typeface="Calibri"/>
            </a:endParaRPr>
          </a:p>
        </p:txBody>
      </p:sp>
      <p:sp>
        <p:nvSpPr>
          <p:cNvPr id="122" name="Google Shape;122;p5"/>
          <p:cNvSpPr/>
          <p:nvPr/>
        </p:nvSpPr>
        <p:spPr>
          <a:xfrm>
            <a:off x="600075" y="4656059"/>
            <a:ext cx="11506200" cy="933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a:solidFill>
                  <a:schemeClr val="dk1"/>
                </a:solidFill>
              </a:rPr>
              <a:t>Honeyops stands out by combining </a:t>
            </a:r>
            <a:r>
              <a:rPr lang="en-US">
                <a:solidFill>
                  <a:schemeClr val="dk1"/>
                </a:solidFill>
              </a:rPr>
              <a:t>stateful</a:t>
            </a:r>
            <a:r>
              <a:rPr lang="en-US">
                <a:solidFill>
                  <a:schemeClr val="dk1"/>
                </a:solidFill>
              </a:rPr>
              <a:t> operations and adaptive </a:t>
            </a:r>
            <a:r>
              <a:rPr lang="en-US">
                <a:solidFill>
                  <a:schemeClr val="dk1"/>
                </a:solidFill>
              </a:rPr>
              <a:t>intelligence</a:t>
            </a:r>
            <a:r>
              <a:rPr lang="en-US">
                <a:solidFill>
                  <a:schemeClr val="dk1"/>
                </a:solidFill>
              </a:rPr>
              <a:t> in a way that normal </a:t>
            </a:r>
            <a:r>
              <a:rPr b="1" lang="en-US">
                <a:solidFill>
                  <a:schemeClr val="dk1"/>
                </a:solidFill>
              </a:rPr>
              <a:t>traditional</a:t>
            </a:r>
            <a:r>
              <a:rPr lang="en-US">
                <a:solidFill>
                  <a:schemeClr val="dk1"/>
                </a:solidFill>
              </a:rPr>
              <a:t> honeypots cannot compete, its </a:t>
            </a:r>
            <a:r>
              <a:rPr lang="en-US">
                <a:solidFill>
                  <a:schemeClr val="dk1"/>
                </a:solidFill>
              </a:rPr>
              <a:t>persistent</a:t>
            </a:r>
            <a:r>
              <a:rPr b="1" lang="en-US">
                <a:solidFill>
                  <a:schemeClr val="dk1"/>
                </a:solidFill>
              </a:rPr>
              <a:t> fake OS </a:t>
            </a:r>
            <a:r>
              <a:rPr b="1" lang="en-US">
                <a:solidFill>
                  <a:schemeClr val="dk1"/>
                </a:solidFill>
              </a:rPr>
              <a:t>state</a:t>
            </a:r>
            <a:r>
              <a:rPr lang="en-US">
                <a:solidFill>
                  <a:schemeClr val="dk1"/>
                </a:solidFill>
              </a:rPr>
              <a:t>, with dynamic evolving files, </a:t>
            </a:r>
            <a:r>
              <a:rPr lang="en-US">
                <a:solidFill>
                  <a:schemeClr val="dk1"/>
                </a:solidFill>
              </a:rPr>
              <a:t>process</a:t>
            </a:r>
            <a:r>
              <a:rPr lang="en-US">
                <a:solidFill>
                  <a:schemeClr val="dk1"/>
                </a:solidFill>
              </a:rPr>
              <a:t>, logs, which creates a </a:t>
            </a:r>
            <a:r>
              <a:rPr b="1" lang="en-US">
                <a:solidFill>
                  <a:schemeClr val="dk1"/>
                </a:solidFill>
              </a:rPr>
              <a:t>convincing</a:t>
            </a:r>
            <a:r>
              <a:rPr b="1" lang="en-US">
                <a:solidFill>
                  <a:schemeClr val="dk1"/>
                </a:solidFill>
              </a:rPr>
              <a:t> </a:t>
            </a:r>
            <a:r>
              <a:rPr lang="en-US">
                <a:solidFill>
                  <a:schemeClr val="dk1"/>
                </a:solidFill>
              </a:rPr>
              <a:t>environment for the attacker to engage in. </a:t>
            </a:r>
            <a:endParaRPr>
              <a:solidFill>
                <a:schemeClr val="dk1"/>
              </a:solidFill>
            </a:endParaRPr>
          </a:p>
          <a:p>
            <a:pPr indent="0" lvl="0" marL="0" marR="0" rtl="0" algn="l">
              <a:lnSpc>
                <a:spcPct val="150000"/>
              </a:lnSpc>
              <a:spcBef>
                <a:spcPts val="0"/>
              </a:spcBef>
              <a:spcAft>
                <a:spcPts val="0"/>
              </a:spcAft>
              <a:buNone/>
            </a:pPr>
            <a:r>
              <a:t/>
            </a:r>
            <a:endParaRPr b="1" sz="1400">
              <a:solidFill>
                <a:srgbClr val="FF0000"/>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1400">
              <a:solidFill>
                <a:srgbClr val="FF0000"/>
              </a:solidFill>
              <a:latin typeface="Calibri"/>
              <a:ea typeface="Calibri"/>
              <a:cs typeface="Calibri"/>
              <a:sym typeface="Calibri"/>
            </a:endParaRPr>
          </a:p>
          <a:p>
            <a:pPr indent="0" lvl="0" marL="0" marR="0" rtl="0" algn="ctr">
              <a:lnSpc>
                <a:spcPct val="150000"/>
              </a:lnSpc>
              <a:spcBef>
                <a:spcPts val="0"/>
              </a:spcBef>
              <a:spcAft>
                <a:spcPts val="0"/>
              </a:spcAft>
              <a:buNone/>
            </a:pPr>
            <a:r>
              <a:t/>
            </a:r>
            <a:endParaRPr sz="1400">
              <a:solidFill>
                <a:srgbClr val="FF0000"/>
              </a:solidFill>
              <a:latin typeface="Calibri"/>
              <a:ea typeface="Calibri"/>
              <a:cs typeface="Calibri"/>
              <a:sym typeface="Calibri"/>
            </a:endParaRPr>
          </a:p>
          <a:p>
            <a:pPr indent="0" lvl="0" marL="0" marR="0" rtl="0" algn="ctr">
              <a:lnSpc>
                <a:spcPct val="116666"/>
              </a:lnSpc>
              <a:spcBef>
                <a:spcPts val="0"/>
              </a:spcBef>
              <a:spcAft>
                <a:spcPts val="0"/>
              </a:spcAft>
              <a:buNone/>
            </a:pPr>
            <a:r>
              <a:t/>
            </a:r>
            <a:endParaRPr sz="1400">
              <a:solidFill>
                <a:srgbClr val="FF0000"/>
              </a:solidFill>
              <a:latin typeface="Calibri"/>
              <a:ea typeface="Calibri"/>
              <a:cs typeface="Calibri"/>
              <a:sym typeface="Calibri"/>
            </a:endParaRPr>
          </a:p>
        </p:txBody>
      </p:sp>
      <p:pic>
        <p:nvPicPr>
          <p:cNvPr descr="preencoded.png" id="123" name="Google Shape;123;p5"/>
          <p:cNvPicPr preferRelativeResize="0"/>
          <p:nvPr/>
        </p:nvPicPr>
        <p:blipFill rotWithShape="1">
          <a:blip r:embed="rId14">
            <a:alphaModFix/>
          </a:blip>
          <a:srcRect b="0" l="0" r="0" t="0"/>
          <a:stretch/>
        </p:blipFill>
        <p:spPr>
          <a:xfrm>
            <a:off x="0" y="762000"/>
            <a:ext cx="12192000" cy="47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descr="preencoded.png" id="129" name="Google Shape;129;p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30" name="Google Shape;130;p6"/>
          <p:cNvPicPr preferRelativeResize="0"/>
          <p:nvPr/>
        </p:nvPicPr>
        <p:blipFill rotWithShape="1">
          <a:blip r:embed="rId4">
            <a:alphaModFix/>
          </a:blip>
          <a:srcRect b="0" l="0" r="0" t="0"/>
          <a:stretch/>
        </p:blipFill>
        <p:spPr>
          <a:xfrm>
            <a:off x="0" y="0"/>
            <a:ext cx="12192000" cy="762000"/>
          </a:xfrm>
          <a:prstGeom prst="rect">
            <a:avLst/>
          </a:prstGeom>
          <a:noFill/>
          <a:ln>
            <a:noFill/>
          </a:ln>
        </p:spPr>
      </p:pic>
      <p:pic>
        <p:nvPicPr>
          <p:cNvPr descr="preencoded.png" id="131" name="Google Shape;131;p6"/>
          <p:cNvPicPr preferRelativeResize="0"/>
          <p:nvPr/>
        </p:nvPicPr>
        <p:blipFill rotWithShape="1">
          <a:blip r:embed="rId5">
            <a:alphaModFix/>
          </a:blip>
          <a:srcRect b="0" l="0" r="0" t="0"/>
          <a:stretch/>
        </p:blipFill>
        <p:spPr>
          <a:xfrm>
            <a:off x="381000" y="2114550"/>
            <a:ext cx="11430000" cy="38100"/>
          </a:xfrm>
          <a:prstGeom prst="rect">
            <a:avLst/>
          </a:prstGeom>
          <a:noFill/>
          <a:ln>
            <a:noFill/>
          </a:ln>
        </p:spPr>
      </p:pic>
      <p:pic>
        <p:nvPicPr>
          <p:cNvPr descr="preencoded.png" id="132" name="Google Shape;132;p6"/>
          <p:cNvPicPr preferRelativeResize="0"/>
          <p:nvPr/>
        </p:nvPicPr>
        <p:blipFill rotWithShape="1">
          <a:blip r:embed="rId6">
            <a:alphaModFix/>
          </a:blip>
          <a:srcRect b="0" l="0" r="0" t="0"/>
          <a:stretch/>
        </p:blipFill>
        <p:spPr>
          <a:xfrm>
            <a:off x="952500" y="2038350"/>
            <a:ext cx="190500" cy="190500"/>
          </a:xfrm>
          <a:prstGeom prst="rect">
            <a:avLst/>
          </a:prstGeom>
          <a:noFill/>
          <a:ln>
            <a:noFill/>
          </a:ln>
        </p:spPr>
      </p:pic>
      <p:pic>
        <p:nvPicPr>
          <p:cNvPr descr="preencoded.png" id="133" name="Google Shape;133;p6"/>
          <p:cNvPicPr preferRelativeResize="0"/>
          <p:nvPr/>
        </p:nvPicPr>
        <p:blipFill rotWithShape="1">
          <a:blip r:embed="rId7">
            <a:alphaModFix/>
          </a:blip>
          <a:srcRect b="0" l="0" r="0" t="0"/>
          <a:stretch/>
        </p:blipFill>
        <p:spPr>
          <a:xfrm>
            <a:off x="762000" y="1905000"/>
            <a:ext cx="381000" cy="381000"/>
          </a:xfrm>
          <a:prstGeom prst="rect">
            <a:avLst/>
          </a:prstGeom>
          <a:noFill/>
          <a:ln>
            <a:noFill/>
          </a:ln>
        </p:spPr>
      </p:pic>
      <p:pic>
        <p:nvPicPr>
          <p:cNvPr descr="preencoded.png" id="134" name="Google Shape;134;p6"/>
          <p:cNvPicPr preferRelativeResize="0"/>
          <p:nvPr/>
        </p:nvPicPr>
        <p:blipFill rotWithShape="1">
          <a:blip r:embed="rId8">
            <a:alphaModFix/>
          </a:blip>
          <a:srcRect b="0" l="0" r="0" t="0"/>
          <a:stretch/>
        </p:blipFill>
        <p:spPr>
          <a:xfrm>
            <a:off x="876300" y="2019300"/>
            <a:ext cx="152400" cy="152400"/>
          </a:xfrm>
          <a:prstGeom prst="rect">
            <a:avLst/>
          </a:prstGeom>
          <a:noFill/>
          <a:ln>
            <a:noFill/>
          </a:ln>
        </p:spPr>
      </p:pic>
      <p:pic>
        <p:nvPicPr>
          <p:cNvPr descr="preencoded.png" id="135" name="Google Shape;135;p6"/>
          <p:cNvPicPr preferRelativeResize="0"/>
          <p:nvPr/>
        </p:nvPicPr>
        <p:blipFill rotWithShape="1">
          <a:blip r:embed="rId6">
            <a:alphaModFix/>
          </a:blip>
          <a:srcRect b="0" l="0" r="0" t="0"/>
          <a:stretch/>
        </p:blipFill>
        <p:spPr>
          <a:xfrm>
            <a:off x="3810000" y="2038350"/>
            <a:ext cx="190500" cy="190500"/>
          </a:xfrm>
          <a:prstGeom prst="rect">
            <a:avLst/>
          </a:prstGeom>
          <a:noFill/>
          <a:ln>
            <a:noFill/>
          </a:ln>
        </p:spPr>
      </p:pic>
      <p:pic>
        <p:nvPicPr>
          <p:cNvPr descr="preencoded.png" id="136" name="Google Shape;136;p6"/>
          <p:cNvPicPr preferRelativeResize="0"/>
          <p:nvPr/>
        </p:nvPicPr>
        <p:blipFill rotWithShape="1">
          <a:blip r:embed="rId9">
            <a:alphaModFix/>
          </a:blip>
          <a:srcRect b="0" l="0" r="0" t="0"/>
          <a:stretch/>
        </p:blipFill>
        <p:spPr>
          <a:xfrm>
            <a:off x="3619500" y="2400300"/>
            <a:ext cx="381000" cy="381000"/>
          </a:xfrm>
          <a:prstGeom prst="rect">
            <a:avLst/>
          </a:prstGeom>
          <a:noFill/>
          <a:ln>
            <a:noFill/>
          </a:ln>
        </p:spPr>
      </p:pic>
      <p:pic>
        <p:nvPicPr>
          <p:cNvPr descr="preencoded.png" id="137" name="Google Shape;137;p6"/>
          <p:cNvPicPr preferRelativeResize="0"/>
          <p:nvPr/>
        </p:nvPicPr>
        <p:blipFill rotWithShape="1">
          <a:blip r:embed="rId10">
            <a:alphaModFix/>
          </a:blip>
          <a:srcRect b="0" l="0" r="0" t="0"/>
          <a:stretch/>
        </p:blipFill>
        <p:spPr>
          <a:xfrm>
            <a:off x="3733800" y="2514600"/>
            <a:ext cx="152400" cy="152400"/>
          </a:xfrm>
          <a:prstGeom prst="rect">
            <a:avLst/>
          </a:prstGeom>
          <a:noFill/>
          <a:ln>
            <a:noFill/>
          </a:ln>
        </p:spPr>
      </p:pic>
      <p:pic>
        <p:nvPicPr>
          <p:cNvPr descr="preencoded.png" id="138" name="Google Shape;138;p6"/>
          <p:cNvPicPr preferRelativeResize="0"/>
          <p:nvPr/>
        </p:nvPicPr>
        <p:blipFill rotWithShape="1">
          <a:blip r:embed="rId6">
            <a:alphaModFix/>
          </a:blip>
          <a:srcRect b="0" l="0" r="0" t="0"/>
          <a:stretch/>
        </p:blipFill>
        <p:spPr>
          <a:xfrm>
            <a:off x="6667500" y="2038350"/>
            <a:ext cx="190500" cy="190500"/>
          </a:xfrm>
          <a:prstGeom prst="rect">
            <a:avLst/>
          </a:prstGeom>
          <a:noFill/>
          <a:ln>
            <a:noFill/>
          </a:ln>
        </p:spPr>
      </p:pic>
      <p:pic>
        <p:nvPicPr>
          <p:cNvPr descr="preencoded.png" id="139" name="Google Shape;139;p6"/>
          <p:cNvPicPr preferRelativeResize="0"/>
          <p:nvPr/>
        </p:nvPicPr>
        <p:blipFill rotWithShape="1">
          <a:blip r:embed="rId11">
            <a:alphaModFix/>
          </a:blip>
          <a:srcRect b="0" l="0" r="0" t="0"/>
          <a:stretch/>
        </p:blipFill>
        <p:spPr>
          <a:xfrm>
            <a:off x="6477000" y="1905000"/>
            <a:ext cx="381000" cy="381000"/>
          </a:xfrm>
          <a:prstGeom prst="rect">
            <a:avLst/>
          </a:prstGeom>
          <a:noFill/>
          <a:ln>
            <a:noFill/>
          </a:ln>
        </p:spPr>
      </p:pic>
      <p:pic>
        <p:nvPicPr>
          <p:cNvPr descr="preencoded.png" id="140" name="Google Shape;140;p6"/>
          <p:cNvPicPr preferRelativeResize="0"/>
          <p:nvPr/>
        </p:nvPicPr>
        <p:blipFill rotWithShape="1">
          <a:blip r:embed="rId12">
            <a:alphaModFix/>
          </a:blip>
          <a:srcRect b="0" l="0" r="0" t="0"/>
          <a:stretch/>
        </p:blipFill>
        <p:spPr>
          <a:xfrm>
            <a:off x="6591300" y="2019300"/>
            <a:ext cx="152400" cy="152400"/>
          </a:xfrm>
          <a:prstGeom prst="rect">
            <a:avLst/>
          </a:prstGeom>
          <a:noFill/>
          <a:ln>
            <a:noFill/>
          </a:ln>
        </p:spPr>
      </p:pic>
      <p:pic>
        <p:nvPicPr>
          <p:cNvPr descr="preencoded.png" id="141" name="Google Shape;141;p6"/>
          <p:cNvPicPr preferRelativeResize="0"/>
          <p:nvPr/>
        </p:nvPicPr>
        <p:blipFill rotWithShape="1">
          <a:blip r:embed="rId13">
            <a:alphaModFix/>
          </a:blip>
          <a:srcRect b="0" l="0" r="0" t="0"/>
          <a:stretch/>
        </p:blipFill>
        <p:spPr>
          <a:xfrm>
            <a:off x="9525000" y="2038350"/>
            <a:ext cx="190500" cy="190500"/>
          </a:xfrm>
          <a:prstGeom prst="rect">
            <a:avLst/>
          </a:prstGeom>
          <a:noFill/>
          <a:ln>
            <a:noFill/>
          </a:ln>
        </p:spPr>
      </p:pic>
      <p:pic>
        <p:nvPicPr>
          <p:cNvPr descr="preencoded.png" id="142" name="Google Shape;142;p6"/>
          <p:cNvPicPr preferRelativeResize="0"/>
          <p:nvPr/>
        </p:nvPicPr>
        <p:blipFill rotWithShape="1">
          <a:blip r:embed="rId14">
            <a:alphaModFix/>
          </a:blip>
          <a:srcRect b="0" l="0" r="0" t="0"/>
          <a:stretch/>
        </p:blipFill>
        <p:spPr>
          <a:xfrm>
            <a:off x="9334500" y="2400300"/>
            <a:ext cx="381000" cy="381000"/>
          </a:xfrm>
          <a:prstGeom prst="rect">
            <a:avLst/>
          </a:prstGeom>
          <a:noFill/>
          <a:ln>
            <a:noFill/>
          </a:ln>
        </p:spPr>
      </p:pic>
      <p:pic>
        <p:nvPicPr>
          <p:cNvPr descr="preencoded.png" id="143" name="Google Shape;143;p6"/>
          <p:cNvPicPr preferRelativeResize="0"/>
          <p:nvPr/>
        </p:nvPicPr>
        <p:blipFill rotWithShape="1">
          <a:blip r:embed="rId15">
            <a:alphaModFix/>
          </a:blip>
          <a:srcRect b="0" l="0" r="0" t="0"/>
          <a:stretch/>
        </p:blipFill>
        <p:spPr>
          <a:xfrm>
            <a:off x="9448800" y="2514600"/>
            <a:ext cx="152400" cy="152400"/>
          </a:xfrm>
          <a:prstGeom prst="rect">
            <a:avLst/>
          </a:prstGeom>
          <a:noFill/>
          <a:ln>
            <a:noFill/>
          </a:ln>
        </p:spPr>
      </p:pic>
      <p:pic>
        <p:nvPicPr>
          <p:cNvPr descr="preencoded.png" id="144" name="Google Shape;144;p6"/>
          <p:cNvPicPr preferRelativeResize="0"/>
          <p:nvPr/>
        </p:nvPicPr>
        <p:blipFill rotWithShape="1">
          <a:blip r:embed="rId16">
            <a:alphaModFix/>
          </a:blip>
          <a:srcRect b="0" l="0" r="0" t="0"/>
          <a:stretch/>
        </p:blipFill>
        <p:spPr>
          <a:xfrm>
            <a:off x="381000" y="4114800"/>
            <a:ext cx="3708350" cy="1853950"/>
          </a:xfrm>
          <a:prstGeom prst="rect">
            <a:avLst/>
          </a:prstGeom>
          <a:noFill/>
          <a:ln>
            <a:noFill/>
          </a:ln>
        </p:spPr>
      </p:pic>
      <p:pic>
        <p:nvPicPr>
          <p:cNvPr descr="preencoded.png" id="145" name="Google Shape;145;p6"/>
          <p:cNvPicPr preferRelativeResize="0"/>
          <p:nvPr/>
        </p:nvPicPr>
        <p:blipFill rotWithShape="1">
          <a:blip r:embed="rId17">
            <a:alphaModFix/>
          </a:blip>
          <a:srcRect b="0" l="0" r="0" t="0"/>
          <a:stretch/>
        </p:blipFill>
        <p:spPr>
          <a:xfrm>
            <a:off x="523875" y="4295775"/>
            <a:ext cx="152400" cy="152400"/>
          </a:xfrm>
          <a:prstGeom prst="rect">
            <a:avLst/>
          </a:prstGeom>
          <a:noFill/>
          <a:ln>
            <a:noFill/>
          </a:ln>
        </p:spPr>
      </p:pic>
      <p:pic>
        <p:nvPicPr>
          <p:cNvPr descr="preencoded.png" id="146" name="Google Shape;146;p6"/>
          <p:cNvPicPr preferRelativeResize="0"/>
          <p:nvPr/>
        </p:nvPicPr>
        <p:blipFill rotWithShape="1">
          <a:blip r:embed="rId18">
            <a:alphaModFix/>
          </a:blip>
          <a:srcRect b="0" l="0" r="0" t="0"/>
          <a:stretch/>
        </p:blipFill>
        <p:spPr>
          <a:xfrm>
            <a:off x="4241750" y="4114800"/>
            <a:ext cx="3708350" cy="1853950"/>
          </a:xfrm>
          <a:prstGeom prst="rect">
            <a:avLst/>
          </a:prstGeom>
          <a:noFill/>
          <a:ln>
            <a:noFill/>
          </a:ln>
        </p:spPr>
      </p:pic>
      <p:pic>
        <p:nvPicPr>
          <p:cNvPr descr="preencoded.png" id="147" name="Google Shape;147;p6"/>
          <p:cNvPicPr preferRelativeResize="0"/>
          <p:nvPr/>
        </p:nvPicPr>
        <p:blipFill rotWithShape="1">
          <a:blip r:embed="rId17">
            <a:alphaModFix/>
          </a:blip>
          <a:srcRect b="0" l="0" r="0" t="0"/>
          <a:stretch/>
        </p:blipFill>
        <p:spPr>
          <a:xfrm>
            <a:off x="4384625" y="4295775"/>
            <a:ext cx="152400" cy="152400"/>
          </a:xfrm>
          <a:prstGeom prst="rect">
            <a:avLst/>
          </a:prstGeom>
          <a:noFill/>
          <a:ln>
            <a:noFill/>
          </a:ln>
        </p:spPr>
      </p:pic>
      <p:pic>
        <p:nvPicPr>
          <p:cNvPr descr="preencoded.png" id="148" name="Google Shape;148;p6"/>
          <p:cNvPicPr preferRelativeResize="0"/>
          <p:nvPr/>
        </p:nvPicPr>
        <p:blipFill rotWithShape="1">
          <a:blip r:embed="rId19">
            <a:alphaModFix/>
          </a:blip>
          <a:srcRect b="0" l="0" r="0" t="0"/>
          <a:stretch/>
        </p:blipFill>
        <p:spPr>
          <a:xfrm>
            <a:off x="8102500" y="4114800"/>
            <a:ext cx="3708501" cy="1853950"/>
          </a:xfrm>
          <a:prstGeom prst="rect">
            <a:avLst/>
          </a:prstGeom>
          <a:noFill/>
          <a:ln>
            <a:noFill/>
          </a:ln>
        </p:spPr>
      </p:pic>
      <p:pic>
        <p:nvPicPr>
          <p:cNvPr descr="preencoded.png" id="149" name="Google Shape;149;p6"/>
          <p:cNvPicPr preferRelativeResize="0"/>
          <p:nvPr/>
        </p:nvPicPr>
        <p:blipFill rotWithShape="1">
          <a:blip r:embed="rId17">
            <a:alphaModFix/>
          </a:blip>
          <a:srcRect b="0" l="0" r="0" t="0"/>
          <a:stretch/>
        </p:blipFill>
        <p:spPr>
          <a:xfrm>
            <a:off x="8245376" y="4295775"/>
            <a:ext cx="152400" cy="152400"/>
          </a:xfrm>
          <a:prstGeom prst="rect">
            <a:avLst/>
          </a:prstGeom>
          <a:noFill/>
          <a:ln>
            <a:noFill/>
          </a:ln>
        </p:spPr>
      </p:pic>
      <p:sp>
        <p:nvSpPr>
          <p:cNvPr id="150" name="Google Shape;150;p6"/>
          <p:cNvSpPr/>
          <p:nvPr/>
        </p:nvSpPr>
        <p:spPr>
          <a:xfrm>
            <a:off x="381000" y="209550"/>
            <a:ext cx="632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Project Roadmap</a:t>
            </a:r>
            <a:endParaRPr sz="2250">
              <a:solidFill>
                <a:schemeClr val="dk1"/>
              </a:solidFill>
              <a:latin typeface="Calibri"/>
              <a:ea typeface="Calibri"/>
              <a:cs typeface="Calibri"/>
              <a:sym typeface="Calibri"/>
            </a:endParaRPr>
          </a:p>
        </p:txBody>
      </p:sp>
      <p:sp>
        <p:nvSpPr>
          <p:cNvPr id="151" name="Google Shape;151;p6"/>
          <p:cNvSpPr/>
          <p:nvPr/>
        </p:nvSpPr>
        <p:spPr>
          <a:xfrm>
            <a:off x="381000" y="1047750"/>
            <a:ext cx="114300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Project Timeline </a:t>
            </a:r>
            <a:endParaRPr sz="1500">
              <a:solidFill>
                <a:schemeClr val="dk1"/>
              </a:solidFill>
              <a:latin typeface="Calibri"/>
              <a:ea typeface="Calibri"/>
              <a:cs typeface="Calibri"/>
              <a:sym typeface="Calibri"/>
            </a:endParaRPr>
          </a:p>
        </p:txBody>
      </p:sp>
      <p:sp>
        <p:nvSpPr>
          <p:cNvPr id="152" name="Google Shape;152;p6"/>
          <p:cNvSpPr/>
          <p:nvPr/>
        </p:nvSpPr>
        <p:spPr>
          <a:xfrm>
            <a:off x="381000" y="1314450"/>
            <a:ext cx="137160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latin typeface="Arial"/>
                <a:ea typeface="Arial"/>
                <a:cs typeface="Arial"/>
                <a:sym typeface="Arial"/>
              </a:rPr>
              <a:t>This section outlines the high-level plan for the remainder of the project, detailing key phases and milestones to guide development.</a:t>
            </a:r>
            <a:endParaRPr sz="1200">
              <a:solidFill>
                <a:schemeClr val="dk1"/>
              </a:solidFill>
              <a:latin typeface="Calibri"/>
              <a:ea typeface="Calibri"/>
              <a:cs typeface="Calibri"/>
              <a:sym typeface="Calibri"/>
            </a:endParaRPr>
          </a:p>
        </p:txBody>
      </p:sp>
      <p:sp>
        <p:nvSpPr>
          <p:cNvPr id="153" name="Google Shape;153;p6"/>
          <p:cNvSpPr/>
          <p:nvPr/>
        </p:nvSpPr>
        <p:spPr>
          <a:xfrm>
            <a:off x="0" y="2362200"/>
            <a:ext cx="1905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Current</a:t>
            </a:r>
            <a:endParaRPr sz="1200">
              <a:solidFill>
                <a:schemeClr val="dk1"/>
              </a:solidFill>
              <a:latin typeface="Calibri"/>
              <a:ea typeface="Calibri"/>
              <a:cs typeface="Calibri"/>
              <a:sym typeface="Calibri"/>
            </a:endParaRPr>
          </a:p>
        </p:txBody>
      </p:sp>
      <p:sp>
        <p:nvSpPr>
          <p:cNvPr id="154" name="Google Shape;154;p6"/>
          <p:cNvSpPr/>
          <p:nvPr/>
        </p:nvSpPr>
        <p:spPr>
          <a:xfrm>
            <a:off x="0" y="2590800"/>
            <a:ext cx="1905000" cy="190500"/>
          </a:xfrm>
          <a:prstGeom prst="rect">
            <a:avLst/>
          </a:prstGeom>
          <a:noFill/>
          <a:ln>
            <a:noFill/>
          </a:ln>
        </p:spPr>
        <p:txBody>
          <a:bodyPr anchorCtr="0" anchor="t" bIns="0" lIns="0" spcFirstLastPara="1" rIns="0" wrap="square" tIns="0">
            <a:noAutofit/>
          </a:bodyPr>
          <a:lstStyle/>
          <a:p>
            <a:pPr indent="0" lvl="0" marL="0" rtl="0" algn="ctr">
              <a:lnSpc>
                <a:spcPct val="142857"/>
              </a:lnSpc>
              <a:spcBef>
                <a:spcPts val="0"/>
              </a:spcBef>
              <a:spcAft>
                <a:spcPts val="0"/>
              </a:spcAft>
              <a:buClr>
                <a:schemeClr val="dk1"/>
              </a:buClr>
              <a:buSzPts val="1100"/>
              <a:buFont typeface="Arial"/>
              <a:buNone/>
            </a:pPr>
            <a:r>
              <a:rPr lang="en-US" sz="1000">
                <a:solidFill>
                  <a:srgbClr val="666666"/>
                </a:solidFill>
                <a:highlight>
                  <a:srgbClr val="FFFFFF"/>
                </a:highlight>
                <a:latin typeface="Verdana"/>
                <a:ea typeface="Verdana"/>
                <a:cs typeface="Verdana"/>
                <a:sym typeface="Verdana"/>
              </a:rPr>
              <a:t>Week 9</a:t>
            </a:r>
            <a:endParaRPr sz="1000">
              <a:solidFill>
                <a:srgbClr val="666666"/>
              </a:solidFill>
              <a:highlight>
                <a:srgbClr val="FFFFFF"/>
              </a:highlight>
              <a:latin typeface="Verdana"/>
              <a:ea typeface="Verdana"/>
              <a:cs typeface="Verdana"/>
              <a:sym typeface="Verdana"/>
            </a:endParaRPr>
          </a:p>
          <a:p>
            <a:pPr indent="0" lvl="0" marL="0" marR="0" rtl="0" algn="ctr">
              <a:lnSpc>
                <a:spcPct val="142857"/>
              </a:lnSpc>
              <a:spcBef>
                <a:spcPts val="0"/>
              </a:spcBef>
              <a:spcAft>
                <a:spcPts val="0"/>
              </a:spcAft>
              <a:buClr>
                <a:srgbClr val="4B5563"/>
              </a:buClr>
              <a:buSzPts val="1050"/>
              <a:buFont typeface="Arial"/>
              <a:buNone/>
            </a:pPr>
            <a:r>
              <a:rPr lang="en-US" sz="1000">
                <a:solidFill>
                  <a:srgbClr val="666666"/>
                </a:solidFill>
                <a:highlight>
                  <a:srgbClr val="FFFFFF"/>
                </a:highlight>
                <a:latin typeface="Verdana"/>
                <a:ea typeface="Verdana"/>
                <a:cs typeface="Verdana"/>
                <a:sym typeface="Verdana"/>
              </a:rPr>
              <a:t>Market Visibility</a:t>
            </a:r>
            <a:endParaRPr sz="1050">
              <a:solidFill>
                <a:srgbClr val="4B5563"/>
              </a:solidFill>
            </a:endParaRPr>
          </a:p>
        </p:txBody>
      </p:sp>
      <p:sp>
        <p:nvSpPr>
          <p:cNvPr id="155" name="Google Shape;155;p6"/>
          <p:cNvSpPr/>
          <p:nvPr/>
        </p:nvSpPr>
        <p:spPr>
          <a:xfrm>
            <a:off x="2857500" y="2857500"/>
            <a:ext cx="1905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Phase 1</a:t>
            </a:r>
            <a:endParaRPr sz="1200">
              <a:solidFill>
                <a:schemeClr val="dk1"/>
              </a:solidFill>
              <a:latin typeface="Calibri"/>
              <a:ea typeface="Calibri"/>
              <a:cs typeface="Calibri"/>
              <a:sym typeface="Calibri"/>
            </a:endParaRPr>
          </a:p>
        </p:txBody>
      </p:sp>
      <p:sp>
        <p:nvSpPr>
          <p:cNvPr id="156" name="Google Shape;156;p6"/>
          <p:cNvSpPr/>
          <p:nvPr/>
        </p:nvSpPr>
        <p:spPr>
          <a:xfrm>
            <a:off x="2857500" y="3086100"/>
            <a:ext cx="1905000" cy="228600"/>
          </a:xfrm>
          <a:prstGeom prst="rect">
            <a:avLst/>
          </a:prstGeom>
          <a:noFill/>
          <a:ln>
            <a:noFill/>
          </a:ln>
        </p:spPr>
        <p:txBody>
          <a:bodyPr anchorCtr="0" anchor="t" bIns="0" lIns="0" spcFirstLastPara="1" rIns="0" wrap="square" tIns="0">
            <a:noAutofit/>
          </a:bodyPr>
          <a:lstStyle/>
          <a:p>
            <a:pPr indent="0" lvl="0" marL="0" rtl="0" algn="ctr">
              <a:lnSpc>
                <a:spcPct val="142857"/>
              </a:lnSpc>
              <a:spcBef>
                <a:spcPts val="0"/>
              </a:spcBef>
              <a:spcAft>
                <a:spcPts val="0"/>
              </a:spcAft>
              <a:buClr>
                <a:schemeClr val="dk1"/>
              </a:buClr>
              <a:buSzPts val="1100"/>
              <a:buFont typeface="Arial"/>
              <a:buNone/>
            </a:pPr>
            <a:r>
              <a:rPr lang="en-US" sz="1000">
                <a:solidFill>
                  <a:srgbClr val="666666"/>
                </a:solidFill>
                <a:highlight>
                  <a:srgbClr val="FFFFFF"/>
                </a:highlight>
                <a:latin typeface="Verdana"/>
                <a:ea typeface="Verdana"/>
                <a:cs typeface="Verdana"/>
                <a:sym typeface="Verdana"/>
              </a:rPr>
              <a:t>Weeks 10-14</a:t>
            </a:r>
            <a:endParaRPr sz="1000">
              <a:solidFill>
                <a:srgbClr val="666666"/>
              </a:solidFill>
              <a:highlight>
                <a:srgbClr val="FFFFFF"/>
              </a:highlight>
              <a:latin typeface="Verdana"/>
              <a:ea typeface="Verdana"/>
              <a:cs typeface="Verdana"/>
              <a:sym typeface="Verdana"/>
            </a:endParaRPr>
          </a:p>
          <a:p>
            <a:pPr indent="0" lvl="0" marL="0" rtl="0" algn="ctr">
              <a:lnSpc>
                <a:spcPct val="142857"/>
              </a:lnSpc>
              <a:spcBef>
                <a:spcPts val="0"/>
              </a:spcBef>
              <a:spcAft>
                <a:spcPts val="0"/>
              </a:spcAft>
              <a:buClr>
                <a:srgbClr val="4B5563"/>
              </a:buClr>
              <a:buSzPts val="1050"/>
              <a:buFont typeface="Arial"/>
              <a:buNone/>
            </a:pPr>
            <a:r>
              <a:rPr lang="en-US" sz="1000">
                <a:solidFill>
                  <a:srgbClr val="666666"/>
                </a:solidFill>
                <a:highlight>
                  <a:srgbClr val="FFFFFF"/>
                </a:highlight>
                <a:latin typeface="Verdana"/>
                <a:ea typeface="Verdana"/>
                <a:cs typeface="Verdana"/>
                <a:sym typeface="Verdana"/>
              </a:rPr>
              <a:t>Design &amp; Planning</a:t>
            </a:r>
            <a:endParaRPr sz="1000">
              <a:solidFill>
                <a:srgbClr val="666666"/>
              </a:solidFill>
              <a:highlight>
                <a:srgbClr val="FFFFFF"/>
              </a:highlight>
              <a:latin typeface="Verdana"/>
              <a:ea typeface="Verdana"/>
              <a:cs typeface="Verdana"/>
              <a:sym typeface="Verdana"/>
            </a:endParaRPr>
          </a:p>
          <a:p>
            <a:pPr indent="0" lvl="0" marL="0" rtl="0" algn="l">
              <a:lnSpc>
                <a:spcPct val="142857"/>
              </a:lnSpc>
              <a:spcBef>
                <a:spcPts val="0"/>
              </a:spcBef>
              <a:spcAft>
                <a:spcPts val="0"/>
              </a:spcAft>
              <a:buClr>
                <a:schemeClr val="dk1"/>
              </a:buClr>
              <a:buSzPts val="1100"/>
              <a:buFont typeface="Arial"/>
              <a:buNone/>
            </a:pPr>
            <a:r>
              <a:t/>
            </a:r>
            <a:endParaRPr sz="1000">
              <a:solidFill>
                <a:srgbClr val="666666"/>
              </a:solidFill>
              <a:highlight>
                <a:srgbClr val="FFFFFF"/>
              </a:highlight>
              <a:latin typeface="Verdana"/>
              <a:ea typeface="Verdana"/>
              <a:cs typeface="Verdana"/>
              <a:sym typeface="Verdana"/>
            </a:endParaRPr>
          </a:p>
          <a:p>
            <a:pPr indent="0" lvl="0" marL="0" marR="0" rtl="0" algn="ctr">
              <a:lnSpc>
                <a:spcPct val="142857"/>
              </a:lnSpc>
              <a:spcBef>
                <a:spcPts val="0"/>
              </a:spcBef>
              <a:spcAft>
                <a:spcPts val="0"/>
              </a:spcAft>
              <a:buClr>
                <a:srgbClr val="4B5563"/>
              </a:buClr>
              <a:buSzPts val="1050"/>
              <a:buFont typeface="Arial"/>
              <a:buNone/>
            </a:pPr>
            <a:r>
              <a:t/>
            </a:r>
            <a:endParaRPr sz="1050">
              <a:solidFill>
                <a:srgbClr val="4B5563"/>
              </a:solidFill>
            </a:endParaRPr>
          </a:p>
        </p:txBody>
      </p:sp>
      <p:sp>
        <p:nvSpPr>
          <p:cNvPr id="157" name="Google Shape;157;p6"/>
          <p:cNvSpPr/>
          <p:nvPr/>
        </p:nvSpPr>
        <p:spPr>
          <a:xfrm>
            <a:off x="5715000" y="2362200"/>
            <a:ext cx="1905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Phase 2</a:t>
            </a:r>
            <a:endParaRPr sz="1200">
              <a:solidFill>
                <a:schemeClr val="dk1"/>
              </a:solidFill>
              <a:latin typeface="Calibri"/>
              <a:ea typeface="Calibri"/>
              <a:cs typeface="Calibri"/>
              <a:sym typeface="Calibri"/>
            </a:endParaRPr>
          </a:p>
        </p:txBody>
      </p:sp>
      <p:sp>
        <p:nvSpPr>
          <p:cNvPr id="158" name="Google Shape;158;p6"/>
          <p:cNvSpPr/>
          <p:nvPr/>
        </p:nvSpPr>
        <p:spPr>
          <a:xfrm>
            <a:off x="5715000" y="2590800"/>
            <a:ext cx="1905000" cy="190500"/>
          </a:xfrm>
          <a:prstGeom prst="rect">
            <a:avLst/>
          </a:prstGeom>
          <a:noFill/>
          <a:ln>
            <a:noFill/>
          </a:ln>
        </p:spPr>
        <p:txBody>
          <a:bodyPr anchorCtr="0" anchor="t" bIns="0" lIns="0" spcFirstLastPara="1" rIns="0" wrap="square" tIns="0">
            <a:noAutofit/>
          </a:bodyPr>
          <a:lstStyle/>
          <a:p>
            <a:pPr indent="0" lvl="0" marL="0" rtl="0" algn="ctr">
              <a:lnSpc>
                <a:spcPct val="142857"/>
              </a:lnSpc>
              <a:spcBef>
                <a:spcPts val="0"/>
              </a:spcBef>
              <a:spcAft>
                <a:spcPts val="0"/>
              </a:spcAft>
              <a:buClr>
                <a:schemeClr val="dk1"/>
              </a:buClr>
              <a:buSzPts val="1100"/>
              <a:buFont typeface="Arial"/>
              <a:buNone/>
            </a:pPr>
            <a:r>
              <a:rPr lang="en-US" sz="1000">
                <a:solidFill>
                  <a:srgbClr val="666666"/>
                </a:solidFill>
                <a:highlight>
                  <a:srgbClr val="FFFFFF"/>
                </a:highlight>
                <a:latin typeface="Verdana"/>
                <a:ea typeface="Verdana"/>
                <a:cs typeface="Verdana"/>
                <a:sym typeface="Verdana"/>
              </a:rPr>
              <a:t>Weeks 15-22</a:t>
            </a:r>
            <a:endParaRPr sz="1000">
              <a:solidFill>
                <a:srgbClr val="666666"/>
              </a:solidFill>
              <a:highlight>
                <a:srgbClr val="FFFFFF"/>
              </a:highlight>
              <a:latin typeface="Verdana"/>
              <a:ea typeface="Verdana"/>
              <a:cs typeface="Verdana"/>
              <a:sym typeface="Verdana"/>
            </a:endParaRPr>
          </a:p>
          <a:p>
            <a:pPr indent="0" lvl="0" marL="0" marR="0" rtl="0" algn="ctr">
              <a:lnSpc>
                <a:spcPct val="142857"/>
              </a:lnSpc>
              <a:spcBef>
                <a:spcPts val="0"/>
              </a:spcBef>
              <a:spcAft>
                <a:spcPts val="0"/>
              </a:spcAft>
              <a:buClr>
                <a:srgbClr val="4B5563"/>
              </a:buClr>
              <a:buSzPts val="1050"/>
              <a:buFont typeface="Arial"/>
              <a:buNone/>
            </a:pPr>
            <a:r>
              <a:rPr lang="en-US" sz="1000">
                <a:solidFill>
                  <a:srgbClr val="666666"/>
                </a:solidFill>
                <a:highlight>
                  <a:srgbClr val="FFFFFF"/>
                </a:highlight>
                <a:latin typeface="Verdana"/>
                <a:ea typeface="Verdana"/>
                <a:cs typeface="Verdana"/>
                <a:sym typeface="Verdana"/>
              </a:rPr>
              <a:t>Development &amp; Testing</a:t>
            </a:r>
            <a:endParaRPr sz="1000">
              <a:solidFill>
                <a:srgbClr val="666666"/>
              </a:solidFill>
              <a:highlight>
                <a:srgbClr val="FFFFFF"/>
              </a:highlight>
              <a:latin typeface="Verdana"/>
              <a:ea typeface="Verdana"/>
              <a:cs typeface="Verdana"/>
              <a:sym typeface="Verdana"/>
            </a:endParaRPr>
          </a:p>
        </p:txBody>
      </p:sp>
      <p:sp>
        <p:nvSpPr>
          <p:cNvPr id="159" name="Google Shape;159;p6"/>
          <p:cNvSpPr/>
          <p:nvPr/>
        </p:nvSpPr>
        <p:spPr>
          <a:xfrm>
            <a:off x="8572500" y="2857500"/>
            <a:ext cx="1905000"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000000"/>
              </a:buClr>
              <a:buSzPts val="1200"/>
              <a:buFont typeface="Arial"/>
              <a:buNone/>
            </a:pPr>
            <a:r>
              <a:rPr b="1" lang="en-US" sz="1200">
                <a:solidFill>
                  <a:srgbClr val="000000"/>
                </a:solidFill>
                <a:latin typeface="Arial"/>
                <a:ea typeface="Arial"/>
                <a:cs typeface="Arial"/>
                <a:sym typeface="Arial"/>
              </a:rPr>
              <a:t>Phase 3</a:t>
            </a:r>
            <a:endParaRPr sz="1200">
              <a:solidFill>
                <a:schemeClr val="dk1"/>
              </a:solidFill>
              <a:latin typeface="Calibri"/>
              <a:ea typeface="Calibri"/>
              <a:cs typeface="Calibri"/>
              <a:sym typeface="Calibri"/>
            </a:endParaRPr>
          </a:p>
        </p:txBody>
      </p:sp>
      <p:sp>
        <p:nvSpPr>
          <p:cNvPr id="160" name="Google Shape;160;p6"/>
          <p:cNvSpPr/>
          <p:nvPr/>
        </p:nvSpPr>
        <p:spPr>
          <a:xfrm>
            <a:off x="8572500" y="3086100"/>
            <a:ext cx="1905000" cy="190500"/>
          </a:xfrm>
          <a:prstGeom prst="rect">
            <a:avLst/>
          </a:prstGeom>
          <a:noFill/>
          <a:ln>
            <a:noFill/>
          </a:ln>
        </p:spPr>
        <p:txBody>
          <a:bodyPr anchorCtr="0" anchor="t" bIns="0" lIns="0" spcFirstLastPara="1" rIns="0" wrap="square" tIns="0">
            <a:noAutofit/>
          </a:bodyPr>
          <a:lstStyle/>
          <a:p>
            <a:pPr indent="0" lvl="0" marL="0" rtl="0" algn="ctr">
              <a:lnSpc>
                <a:spcPct val="142857"/>
              </a:lnSpc>
              <a:spcBef>
                <a:spcPts val="0"/>
              </a:spcBef>
              <a:spcAft>
                <a:spcPts val="0"/>
              </a:spcAft>
              <a:buClr>
                <a:schemeClr val="dk1"/>
              </a:buClr>
              <a:buSzPts val="1100"/>
              <a:buFont typeface="Arial"/>
              <a:buNone/>
            </a:pPr>
            <a:r>
              <a:rPr lang="en-US" sz="1000">
                <a:solidFill>
                  <a:srgbClr val="666666"/>
                </a:solidFill>
                <a:highlight>
                  <a:srgbClr val="FFFFFF"/>
                </a:highlight>
                <a:latin typeface="Verdana"/>
                <a:ea typeface="Verdana"/>
                <a:cs typeface="Verdana"/>
                <a:sym typeface="Verdana"/>
              </a:rPr>
              <a:t>Weeks 23-28</a:t>
            </a:r>
            <a:endParaRPr sz="1000">
              <a:solidFill>
                <a:srgbClr val="666666"/>
              </a:solidFill>
              <a:highlight>
                <a:srgbClr val="FFFFFF"/>
              </a:highlight>
              <a:latin typeface="Verdana"/>
              <a:ea typeface="Verdana"/>
              <a:cs typeface="Verdana"/>
              <a:sym typeface="Verdana"/>
            </a:endParaRPr>
          </a:p>
          <a:p>
            <a:pPr indent="0" lvl="0" marL="0" marR="0" rtl="0" algn="ctr">
              <a:lnSpc>
                <a:spcPct val="142857"/>
              </a:lnSpc>
              <a:spcBef>
                <a:spcPts val="0"/>
              </a:spcBef>
              <a:spcAft>
                <a:spcPts val="0"/>
              </a:spcAft>
              <a:buClr>
                <a:srgbClr val="4B5563"/>
              </a:buClr>
              <a:buSzPts val="1050"/>
              <a:buFont typeface="Arial"/>
              <a:buNone/>
            </a:pPr>
            <a:r>
              <a:rPr lang="en-US" sz="1000">
                <a:solidFill>
                  <a:srgbClr val="666666"/>
                </a:solidFill>
                <a:highlight>
                  <a:srgbClr val="FFFFFF"/>
                </a:highlight>
                <a:latin typeface="Verdana"/>
                <a:ea typeface="Verdana"/>
                <a:cs typeface="Verdana"/>
                <a:sym typeface="Verdana"/>
              </a:rPr>
              <a:t>Enhancement &amp; Launch</a:t>
            </a:r>
            <a:endParaRPr sz="1000">
              <a:solidFill>
                <a:srgbClr val="666666"/>
              </a:solidFill>
              <a:highlight>
                <a:srgbClr val="FFFFFF"/>
              </a:highlight>
              <a:latin typeface="Verdana"/>
              <a:ea typeface="Verdana"/>
              <a:cs typeface="Verdana"/>
              <a:sym typeface="Verdana"/>
            </a:endParaRPr>
          </a:p>
        </p:txBody>
      </p:sp>
      <p:sp>
        <p:nvSpPr>
          <p:cNvPr id="161" name="Google Shape;161;p6"/>
          <p:cNvSpPr/>
          <p:nvPr/>
        </p:nvSpPr>
        <p:spPr>
          <a:xfrm>
            <a:off x="381000" y="3733800"/>
            <a:ext cx="11430000" cy="2667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1F2937"/>
              </a:buClr>
              <a:buSzPts val="1350"/>
              <a:buFont typeface="Arial"/>
              <a:buNone/>
            </a:pPr>
            <a:r>
              <a:rPr b="1" lang="en-US" sz="1350">
                <a:solidFill>
                  <a:srgbClr val="1F2937"/>
                </a:solidFill>
                <a:latin typeface="Arial"/>
                <a:ea typeface="Arial"/>
                <a:cs typeface="Arial"/>
                <a:sym typeface="Arial"/>
              </a:rPr>
              <a:t>Key Milestones</a:t>
            </a:r>
            <a:endParaRPr sz="1350">
              <a:solidFill>
                <a:schemeClr val="dk1"/>
              </a:solidFill>
              <a:latin typeface="Calibri"/>
              <a:ea typeface="Calibri"/>
              <a:cs typeface="Calibri"/>
              <a:sym typeface="Calibri"/>
            </a:endParaRPr>
          </a:p>
        </p:txBody>
      </p:sp>
      <p:sp>
        <p:nvSpPr>
          <p:cNvPr id="162" name="Google Shape;162;p6"/>
          <p:cNvSpPr/>
          <p:nvPr/>
        </p:nvSpPr>
        <p:spPr>
          <a:xfrm>
            <a:off x="752475" y="4257675"/>
            <a:ext cx="121354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300"/>
              <a:t>Week 10-14</a:t>
            </a:r>
            <a:endParaRPr b="1" sz="1300">
              <a:solidFill>
                <a:schemeClr val="dk1"/>
              </a:solidFill>
              <a:latin typeface="Calibri"/>
              <a:ea typeface="Calibri"/>
              <a:cs typeface="Calibri"/>
              <a:sym typeface="Calibri"/>
            </a:endParaRPr>
          </a:p>
        </p:txBody>
      </p:sp>
      <p:sp>
        <p:nvSpPr>
          <p:cNvPr id="163" name="Google Shape;163;p6"/>
          <p:cNvSpPr/>
          <p:nvPr/>
        </p:nvSpPr>
        <p:spPr>
          <a:xfrm>
            <a:off x="523875" y="4562475"/>
            <a:ext cx="410712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lang="en-US">
                <a:solidFill>
                  <a:srgbClr val="374151"/>
                </a:solidFill>
              </a:rPr>
              <a:t>Design &amp; Documentation</a:t>
            </a:r>
            <a:endParaRPr b="1">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Final design completion</a:t>
            </a:r>
            <a:endParaRPr sz="1300">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Risk analysis</a:t>
            </a:r>
            <a:endParaRPr sz="1300">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Final report part 1</a:t>
            </a:r>
            <a:endParaRPr sz="1300">
              <a:solidFill>
                <a:srgbClr val="374151"/>
              </a:solidFill>
            </a:endParaRPr>
          </a:p>
        </p:txBody>
      </p:sp>
      <p:sp>
        <p:nvSpPr>
          <p:cNvPr id="164" name="Google Shape;164;p6"/>
          <p:cNvSpPr/>
          <p:nvPr/>
        </p:nvSpPr>
        <p:spPr>
          <a:xfrm>
            <a:off x="4613225" y="4257675"/>
            <a:ext cx="121354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300"/>
              <a:t>Week 15-22</a:t>
            </a:r>
            <a:endParaRPr b="1" sz="1300"/>
          </a:p>
          <a:p>
            <a:pPr indent="0" lvl="0" marL="0" marR="0" rtl="0" algn="l">
              <a:lnSpc>
                <a:spcPct val="150000"/>
              </a:lnSpc>
              <a:spcBef>
                <a:spcPts val="0"/>
              </a:spcBef>
              <a:spcAft>
                <a:spcPts val="0"/>
              </a:spcAft>
              <a:buClr>
                <a:srgbClr val="000000"/>
              </a:buClr>
              <a:buSzPts val="1200"/>
              <a:buFont typeface="Arial"/>
              <a:buNone/>
            </a:pPr>
            <a:r>
              <a:t/>
            </a:r>
            <a:endParaRPr b="1" sz="1200"/>
          </a:p>
        </p:txBody>
      </p:sp>
      <p:sp>
        <p:nvSpPr>
          <p:cNvPr id="165" name="Google Shape;165;p6"/>
          <p:cNvSpPr/>
          <p:nvPr/>
        </p:nvSpPr>
        <p:spPr>
          <a:xfrm>
            <a:off x="4384625" y="4562475"/>
            <a:ext cx="410712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lang="en-US">
                <a:solidFill>
                  <a:srgbClr val="374151"/>
                </a:solidFill>
              </a:rPr>
              <a:t>Core Development</a:t>
            </a:r>
            <a:endParaRPr b="1">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Build AI Engine &amp; State Store</a:t>
            </a:r>
            <a:endParaRPr sz="1300">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Implement MVP &amp; dashboard</a:t>
            </a:r>
            <a:endParaRPr sz="1300">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Simulated attack testing</a:t>
            </a:r>
            <a:endParaRPr sz="1300">
              <a:solidFill>
                <a:srgbClr val="374151"/>
              </a:solidFill>
            </a:endParaRPr>
          </a:p>
        </p:txBody>
      </p:sp>
      <p:sp>
        <p:nvSpPr>
          <p:cNvPr id="166" name="Google Shape;166;p6"/>
          <p:cNvSpPr/>
          <p:nvPr/>
        </p:nvSpPr>
        <p:spPr>
          <a:xfrm>
            <a:off x="8473976" y="4257675"/>
            <a:ext cx="1213545"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200"/>
              <a:buFont typeface="Arial"/>
              <a:buNone/>
            </a:pPr>
            <a:r>
              <a:rPr b="1" lang="en-US" sz="1300"/>
              <a:t>Week 23-28</a:t>
            </a:r>
            <a:endParaRPr b="1" sz="1300"/>
          </a:p>
          <a:p>
            <a:pPr indent="0" lvl="0" marL="0" marR="0" rtl="0" algn="l">
              <a:lnSpc>
                <a:spcPct val="150000"/>
              </a:lnSpc>
              <a:spcBef>
                <a:spcPts val="0"/>
              </a:spcBef>
              <a:spcAft>
                <a:spcPts val="0"/>
              </a:spcAft>
              <a:buClr>
                <a:srgbClr val="000000"/>
              </a:buClr>
              <a:buSzPts val="1200"/>
              <a:buFont typeface="Arial"/>
              <a:buNone/>
            </a:pPr>
            <a:r>
              <a:t/>
            </a:r>
            <a:endParaRPr b="1" sz="1200"/>
          </a:p>
        </p:txBody>
      </p:sp>
      <p:sp>
        <p:nvSpPr>
          <p:cNvPr id="167" name="Google Shape;167;p6"/>
          <p:cNvSpPr/>
          <p:nvPr/>
        </p:nvSpPr>
        <p:spPr>
          <a:xfrm>
            <a:off x="8245376" y="4562475"/>
            <a:ext cx="4107299"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b="1" lang="en-US">
                <a:solidFill>
                  <a:srgbClr val="374151"/>
                </a:solidFill>
              </a:rPr>
              <a:t>Finalization</a:t>
            </a:r>
            <a:endParaRPr b="1">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ATT&amp;CK mapping &amp; IOC tuning</a:t>
            </a:r>
            <a:endParaRPr sz="1300">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Final testing &amp; metrics</a:t>
            </a:r>
            <a:endParaRPr sz="1300">
              <a:solidFill>
                <a:srgbClr val="374151"/>
              </a:solidFill>
            </a:endParaRPr>
          </a:p>
          <a:p>
            <a:pPr indent="0" lvl="0" marL="0" marR="0" rtl="0" algn="l">
              <a:lnSpc>
                <a:spcPct val="150000"/>
              </a:lnSpc>
              <a:spcBef>
                <a:spcPts val="0"/>
              </a:spcBef>
              <a:spcAft>
                <a:spcPts val="0"/>
              </a:spcAft>
              <a:buClr>
                <a:srgbClr val="374151"/>
              </a:buClr>
              <a:buSzPts val="1200"/>
              <a:buFont typeface="Arial"/>
              <a:buNone/>
            </a:pPr>
            <a:r>
              <a:rPr lang="en-US" sz="1300">
                <a:solidFill>
                  <a:srgbClr val="374151"/>
                </a:solidFill>
              </a:rPr>
              <a:t>• Demo &amp; final report</a:t>
            </a:r>
            <a:endParaRPr sz="1300">
              <a:solidFill>
                <a:srgbClr val="374151"/>
              </a:solidFill>
            </a:endParaRPr>
          </a:p>
        </p:txBody>
      </p:sp>
      <p:pic>
        <p:nvPicPr>
          <p:cNvPr id="168" name="Google Shape;168;p6"/>
          <p:cNvPicPr preferRelativeResize="0"/>
          <p:nvPr/>
        </p:nvPicPr>
        <p:blipFill rotWithShape="1">
          <a:blip r:embed="rId20">
            <a:alphaModFix/>
          </a:blip>
          <a:srcRect b="0" l="0" r="0" t="0"/>
          <a:stretch/>
        </p:blipFill>
        <p:spPr>
          <a:xfrm>
            <a:off x="8451658" y="0"/>
            <a:ext cx="3740342" cy="762039"/>
          </a:xfrm>
          <a:prstGeom prst="rect">
            <a:avLst/>
          </a:prstGeom>
          <a:noFill/>
          <a:ln>
            <a:noFill/>
          </a:ln>
        </p:spPr>
      </p:pic>
      <p:sp>
        <p:nvSpPr>
          <p:cNvPr id="169" name="Google Shape;169;p6"/>
          <p:cNvSpPr/>
          <p:nvPr/>
        </p:nvSpPr>
        <p:spPr>
          <a:xfrm>
            <a:off x="1199575" y="5763994"/>
            <a:ext cx="97927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1800">
              <a:solidFill>
                <a:srgbClr val="FF0000"/>
              </a:solidFill>
              <a:latin typeface="Calibri"/>
              <a:ea typeface="Calibri"/>
              <a:cs typeface="Calibri"/>
              <a:sym typeface="Calibri"/>
            </a:endParaRPr>
          </a:p>
        </p:txBody>
      </p:sp>
      <p:pic>
        <p:nvPicPr>
          <p:cNvPr descr="preencoded.png" id="170" name="Google Shape;170;p6"/>
          <p:cNvPicPr preferRelativeResize="0"/>
          <p:nvPr/>
        </p:nvPicPr>
        <p:blipFill rotWithShape="1">
          <a:blip r:embed="rId21">
            <a:alphaModFix/>
          </a:blip>
          <a:srcRect b="0" l="0" r="0" t="0"/>
          <a:stretch/>
        </p:blipFill>
        <p:spPr>
          <a:xfrm>
            <a:off x="0" y="762000"/>
            <a:ext cx="12192000" cy="47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preencoded.png" id="176" name="Google Shape;176;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77" name="Google Shape;177;p7"/>
          <p:cNvPicPr preferRelativeResize="0"/>
          <p:nvPr/>
        </p:nvPicPr>
        <p:blipFill rotWithShape="1">
          <a:blip r:embed="rId4">
            <a:alphaModFix/>
          </a:blip>
          <a:srcRect b="0" l="0" r="0" t="0"/>
          <a:stretch/>
        </p:blipFill>
        <p:spPr>
          <a:xfrm>
            <a:off x="0" y="0"/>
            <a:ext cx="12192000" cy="762000"/>
          </a:xfrm>
          <a:prstGeom prst="rect">
            <a:avLst/>
          </a:prstGeom>
          <a:noFill/>
          <a:ln>
            <a:noFill/>
          </a:ln>
        </p:spPr>
      </p:pic>
      <p:pic>
        <p:nvPicPr>
          <p:cNvPr descr="preencoded.png" id="178" name="Google Shape;178;p7"/>
          <p:cNvPicPr preferRelativeResize="0"/>
          <p:nvPr/>
        </p:nvPicPr>
        <p:blipFill rotWithShape="1">
          <a:blip r:embed="rId5">
            <a:alphaModFix/>
          </a:blip>
          <a:srcRect b="0" l="0" r="0" t="0"/>
          <a:stretch/>
        </p:blipFill>
        <p:spPr>
          <a:xfrm>
            <a:off x="0" y="762000"/>
            <a:ext cx="12192000" cy="47625"/>
          </a:xfrm>
          <a:prstGeom prst="rect">
            <a:avLst/>
          </a:prstGeom>
          <a:noFill/>
          <a:ln>
            <a:noFill/>
          </a:ln>
        </p:spPr>
      </p:pic>
      <p:pic>
        <p:nvPicPr>
          <p:cNvPr descr="preencoded.png" id="179" name="Google Shape;179;p7"/>
          <p:cNvPicPr preferRelativeResize="0"/>
          <p:nvPr/>
        </p:nvPicPr>
        <p:blipFill rotWithShape="1">
          <a:blip r:embed="rId6">
            <a:alphaModFix/>
          </a:blip>
          <a:srcRect b="0" l="0" r="0" t="0"/>
          <a:stretch/>
        </p:blipFill>
        <p:spPr>
          <a:xfrm>
            <a:off x="2286000" y="1876425"/>
            <a:ext cx="7620000" cy="2057400"/>
          </a:xfrm>
          <a:prstGeom prst="rect">
            <a:avLst/>
          </a:prstGeom>
          <a:noFill/>
          <a:ln>
            <a:noFill/>
          </a:ln>
        </p:spPr>
      </p:pic>
      <p:pic>
        <p:nvPicPr>
          <p:cNvPr descr="preencoded.png" id="180" name="Google Shape;180;p7"/>
          <p:cNvPicPr preferRelativeResize="0"/>
          <p:nvPr/>
        </p:nvPicPr>
        <p:blipFill rotWithShape="1">
          <a:blip r:embed="rId7">
            <a:alphaModFix/>
          </a:blip>
          <a:srcRect b="0" l="0" r="0" t="0"/>
          <a:stretch/>
        </p:blipFill>
        <p:spPr>
          <a:xfrm>
            <a:off x="2571750" y="2581275"/>
            <a:ext cx="381000" cy="381000"/>
          </a:xfrm>
          <a:prstGeom prst="rect">
            <a:avLst/>
          </a:prstGeom>
          <a:noFill/>
          <a:ln>
            <a:noFill/>
          </a:ln>
        </p:spPr>
      </p:pic>
      <p:pic>
        <p:nvPicPr>
          <p:cNvPr descr="preencoded.png" id="181" name="Google Shape;181;p7"/>
          <p:cNvPicPr preferRelativeResize="0"/>
          <p:nvPr/>
        </p:nvPicPr>
        <p:blipFill rotWithShape="1">
          <a:blip r:embed="rId8">
            <a:alphaModFix/>
          </a:blip>
          <a:srcRect b="0" l="0" r="0" t="0"/>
          <a:stretch/>
        </p:blipFill>
        <p:spPr>
          <a:xfrm>
            <a:off x="2686050" y="2695575"/>
            <a:ext cx="152400" cy="152400"/>
          </a:xfrm>
          <a:prstGeom prst="rect">
            <a:avLst/>
          </a:prstGeom>
          <a:noFill/>
          <a:ln>
            <a:noFill/>
          </a:ln>
        </p:spPr>
      </p:pic>
      <p:pic>
        <p:nvPicPr>
          <p:cNvPr descr="preencoded.png" id="182" name="Google Shape;182;p7"/>
          <p:cNvPicPr preferRelativeResize="0"/>
          <p:nvPr/>
        </p:nvPicPr>
        <p:blipFill rotWithShape="1">
          <a:blip r:embed="rId9">
            <a:alphaModFix/>
          </a:blip>
          <a:srcRect b="0" l="0" r="0" t="0"/>
          <a:stretch/>
        </p:blipFill>
        <p:spPr>
          <a:xfrm>
            <a:off x="2571750" y="3114675"/>
            <a:ext cx="381000" cy="381000"/>
          </a:xfrm>
          <a:prstGeom prst="rect">
            <a:avLst/>
          </a:prstGeom>
          <a:noFill/>
          <a:ln>
            <a:noFill/>
          </a:ln>
        </p:spPr>
      </p:pic>
      <p:pic>
        <p:nvPicPr>
          <p:cNvPr descr="preencoded.png" id="183" name="Google Shape;183;p7"/>
          <p:cNvPicPr preferRelativeResize="0"/>
          <p:nvPr/>
        </p:nvPicPr>
        <p:blipFill rotWithShape="1">
          <a:blip r:embed="rId10">
            <a:alphaModFix/>
          </a:blip>
          <a:srcRect b="0" l="0" r="0" t="0"/>
          <a:stretch/>
        </p:blipFill>
        <p:spPr>
          <a:xfrm>
            <a:off x="2686050" y="3228975"/>
            <a:ext cx="152400" cy="152400"/>
          </a:xfrm>
          <a:prstGeom prst="rect">
            <a:avLst/>
          </a:prstGeom>
          <a:noFill/>
          <a:ln>
            <a:noFill/>
          </a:ln>
        </p:spPr>
      </p:pic>
      <p:sp>
        <p:nvSpPr>
          <p:cNvPr id="184" name="Google Shape;184;p7"/>
          <p:cNvSpPr/>
          <p:nvPr/>
        </p:nvSpPr>
        <p:spPr>
          <a:xfrm>
            <a:off x="381000" y="209550"/>
            <a:ext cx="6324600" cy="342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2250"/>
              <a:buFont typeface="Arial"/>
              <a:buNone/>
            </a:pPr>
            <a:r>
              <a:rPr b="1" lang="en-US" sz="2250">
                <a:solidFill>
                  <a:srgbClr val="FFFFFF"/>
                </a:solidFill>
                <a:latin typeface="Arial"/>
                <a:ea typeface="Arial"/>
                <a:cs typeface="Arial"/>
                <a:sym typeface="Arial"/>
              </a:rPr>
              <a:t>Q&amp;A</a:t>
            </a:r>
            <a:endParaRPr sz="2250">
              <a:solidFill>
                <a:schemeClr val="dk1"/>
              </a:solidFill>
              <a:latin typeface="Calibri"/>
              <a:ea typeface="Calibri"/>
              <a:cs typeface="Calibri"/>
              <a:sym typeface="Calibri"/>
            </a:endParaRPr>
          </a:p>
        </p:txBody>
      </p:sp>
      <p:sp>
        <p:nvSpPr>
          <p:cNvPr id="185" name="Google Shape;185;p7"/>
          <p:cNvSpPr/>
          <p:nvPr/>
        </p:nvSpPr>
        <p:spPr>
          <a:xfrm>
            <a:off x="3292971" y="1190625"/>
            <a:ext cx="5606058" cy="381000"/>
          </a:xfrm>
          <a:prstGeom prst="rect">
            <a:avLst/>
          </a:prstGeom>
          <a:noFill/>
          <a:ln>
            <a:noFill/>
          </a:ln>
        </p:spPr>
        <p:txBody>
          <a:bodyPr anchorCtr="0" anchor="t" bIns="0" lIns="0" spcFirstLastPara="1" rIns="0" wrap="square" tIns="0">
            <a:noAutofit/>
          </a:bodyPr>
          <a:lstStyle/>
          <a:p>
            <a:pPr indent="0" lvl="0" marL="0" marR="0" rtl="0" algn="ctr">
              <a:lnSpc>
                <a:spcPct val="111111"/>
              </a:lnSpc>
              <a:spcBef>
                <a:spcPts val="0"/>
              </a:spcBef>
              <a:spcAft>
                <a:spcPts val="0"/>
              </a:spcAft>
              <a:buClr>
                <a:srgbClr val="000000"/>
              </a:buClr>
              <a:buSzPts val="2700"/>
              <a:buFont typeface="Arial"/>
              <a:buNone/>
            </a:pPr>
            <a:r>
              <a:rPr b="1" lang="en-US" sz="2700">
                <a:solidFill>
                  <a:srgbClr val="000000"/>
                </a:solidFill>
                <a:latin typeface="Arial"/>
                <a:ea typeface="Arial"/>
                <a:cs typeface="Arial"/>
                <a:sym typeface="Arial"/>
              </a:rPr>
              <a:t>Thank You &amp; Questions?</a:t>
            </a:r>
            <a:endParaRPr sz="2700">
              <a:solidFill>
                <a:schemeClr val="dk1"/>
              </a:solidFill>
              <a:latin typeface="Calibri"/>
              <a:ea typeface="Calibri"/>
              <a:cs typeface="Calibri"/>
              <a:sym typeface="Calibri"/>
            </a:endParaRPr>
          </a:p>
        </p:txBody>
      </p:sp>
      <p:sp>
        <p:nvSpPr>
          <p:cNvPr id="186" name="Google Shape;186;p7"/>
          <p:cNvSpPr/>
          <p:nvPr/>
        </p:nvSpPr>
        <p:spPr>
          <a:xfrm>
            <a:off x="2571750" y="2162175"/>
            <a:ext cx="7048500" cy="26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937"/>
              </a:buClr>
              <a:buSzPts val="1500"/>
              <a:buFont typeface="Arial"/>
              <a:buNone/>
            </a:pPr>
            <a:r>
              <a:rPr b="1" lang="en-US" sz="1500">
                <a:solidFill>
                  <a:srgbClr val="1F2937"/>
                </a:solidFill>
                <a:latin typeface="Arial"/>
                <a:ea typeface="Arial"/>
                <a:cs typeface="Arial"/>
                <a:sym typeface="Arial"/>
              </a:rPr>
              <a:t>Team Contact Information</a:t>
            </a:r>
            <a:endParaRPr sz="1500">
              <a:solidFill>
                <a:schemeClr val="dk1"/>
              </a:solidFill>
              <a:latin typeface="Calibri"/>
              <a:ea typeface="Calibri"/>
              <a:cs typeface="Calibri"/>
              <a:sym typeface="Calibri"/>
            </a:endParaRPr>
          </a:p>
        </p:txBody>
      </p:sp>
      <p:sp>
        <p:nvSpPr>
          <p:cNvPr id="187" name="Google Shape;187;p7"/>
          <p:cNvSpPr/>
          <p:nvPr/>
        </p:nvSpPr>
        <p:spPr>
          <a:xfrm>
            <a:off x="3095625" y="2657475"/>
            <a:ext cx="2223671"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rPr>
              <a:t>s-ali.reda@zewailcuty.edu.eg</a:t>
            </a:r>
            <a:endParaRPr sz="1200">
              <a:solidFill>
                <a:schemeClr val="dk1"/>
              </a:solidFill>
              <a:latin typeface="Calibri"/>
              <a:ea typeface="Calibri"/>
              <a:cs typeface="Calibri"/>
              <a:sym typeface="Calibri"/>
            </a:endParaRPr>
          </a:p>
        </p:txBody>
      </p:sp>
      <p:sp>
        <p:nvSpPr>
          <p:cNvPr id="188" name="Google Shape;188;p7"/>
          <p:cNvSpPr/>
          <p:nvPr/>
        </p:nvSpPr>
        <p:spPr>
          <a:xfrm>
            <a:off x="3095625" y="3190875"/>
            <a:ext cx="1607522"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374151"/>
              </a:buClr>
              <a:buSzPts val="1200"/>
              <a:buFont typeface="Arial"/>
              <a:buNone/>
            </a:pPr>
            <a:r>
              <a:rPr lang="en-US" sz="1200">
                <a:solidFill>
                  <a:srgbClr val="374151"/>
                </a:solidFill>
              </a:rPr>
              <a:t>01200624409</a:t>
            </a:r>
            <a:endParaRPr sz="1200">
              <a:solidFill>
                <a:schemeClr val="dk1"/>
              </a:solidFill>
              <a:latin typeface="Calibri"/>
              <a:ea typeface="Calibri"/>
              <a:cs typeface="Calibri"/>
              <a:sym typeface="Calibri"/>
            </a:endParaRPr>
          </a:p>
        </p:txBody>
      </p:sp>
      <p:sp>
        <p:nvSpPr>
          <p:cNvPr id="189" name="Google Shape;189;p7"/>
          <p:cNvSpPr/>
          <p:nvPr/>
        </p:nvSpPr>
        <p:spPr>
          <a:xfrm>
            <a:off x="3167077" y="4238625"/>
            <a:ext cx="5857696" cy="266700"/>
          </a:xfrm>
          <a:prstGeom prst="rect">
            <a:avLst/>
          </a:prstGeom>
          <a:noFill/>
          <a:ln>
            <a:noFill/>
          </a:ln>
        </p:spPr>
        <p:txBody>
          <a:bodyPr anchorCtr="0" anchor="t" bIns="0" lIns="0" spcFirstLastPara="1" rIns="0" wrap="square" tIns="0">
            <a:noAutofit/>
          </a:bodyPr>
          <a:lstStyle/>
          <a:p>
            <a:pPr indent="0" lvl="0" marL="0" marR="0" rtl="0" algn="ctr">
              <a:lnSpc>
                <a:spcPct val="155555"/>
              </a:lnSpc>
              <a:spcBef>
                <a:spcPts val="0"/>
              </a:spcBef>
              <a:spcAft>
                <a:spcPts val="0"/>
              </a:spcAft>
              <a:buClr>
                <a:srgbClr val="4B5563"/>
              </a:buClr>
              <a:buSzPts val="1350"/>
              <a:buFont typeface="Arial"/>
              <a:buNone/>
            </a:pPr>
            <a:r>
              <a:rPr lang="en-US" sz="1350">
                <a:solidFill>
                  <a:srgbClr val="4B5563"/>
                </a:solidFill>
                <a:latin typeface="Arial"/>
                <a:ea typeface="Arial"/>
                <a:cs typeface="Arial"/>
                <a:sym typeface="Arial"/>
              </a:rPr>
              <a:t>We welcome your feedback and insights</a:t>
            </a:r>
            <a:endParaRPr sz="1350">
              <a:solidFill>
                <a:schemeClr val="dk1"/>
              </a:solidFill>
              <a:latin typeface="Calibri"/>
              <a:ea typeface="Calibri"/>
              <a:cs typeface="Calibri"/>
              <a:sym typeface="Calibri"/>
            </a:endParaRPr>
          </a:p>
        </p:txBody>
      </p:sp>
      <p:sp>
        <p:nvSpPr>
          <p:cNvPr id="190" name="Google Shape;190;p7"/>
          <p:cNvSpPr/>
          <p:nvPr/>
        </p:nvSpPr>
        <p:spPr>
          <a:xfrm>
            <a:off x="3167077" y="4581525"/>
            <a:ext cx="5857696" cy="228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6B7280"/>
              </a:buClr>
              <a:buSzPts val="1200"/>
              <a:buFont typeface="Arial"/>
              <a:buNone/>
            </a:pPr>
            <a:r>
              <a:rPr lang="en-US" sz="1200">
                <a:solidFill>
                  <a:srgbClr val="6B7280"/>
                </a:solidFill>
                <a:latin typeface="Arial"/>
                <a:ea typeface="Arial"/>
                <a:cs typeface="Arial"/>
                <a:sym typeface="Arial"/>
              </a:rPr>
              <a:t>CSAI School | Zewail City of Science, Technology and Innovation</a:t>
            </a:r>
            <a:endParaRPr sz="1200">
              <a:solidFill>
                <a:schemeClr val="dk1"/>
              </a:solidFill>
              <a:latin typeface="Calibri"/>
              <a:ea typeface="Calibri"/>
              <a:cs typeface="Calibri"/>
              <a:sym typeface="Calibri"/>
            </a:endParaRPr>
          </a:p>
        </p:txBody>
      </p:sp>
      <p:pic>
        <p:nvPicPr>
          <p:cNvPr id="191" name="Google Shape;191;p7"/>
          <p:cNvPicPr preferRelativeResize="0"/>
          <p:nvPr/>
        </p:nvPicPr>
        <p:blipFill rotWithShape="1">
          <a:blip r:embed="rId11">
            <a:alphaModFix/>
          </a:blip>
          <a:srcRect b="0" l="0" r="0" t="0"/>
          <a:stretch/>
        </p:blipFill>
        <p:spPr>
          <a:xfrm>
            <a:off x="8451658" y="0"/>
            <a:ext cx="3740342" cy="76203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2025-11-03T16:40:12Z</dcterms:created>
  <dc:creator>PptxGenJS</dc:creator>
</cp:coreProperties>
</file>